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66" r:id="rId5"/>
    <p:sldId id="259" r:id="rId6"/>
    <p:sldId id="267" r:id="rId7"/>
    <p:sldId id="268" r:id="rId8"/>
    <p:sldId id="260" r:id="rId9"/>
    <p:sldId id="270" r:id="rId10"/>
    <p:sldId id="277" r:id="rId11"/>
    <p:sldId id="261" r:id="rId12"/>
    <p:sldId id="271" r:id="rId13"/>
    <p:sldId id="262" r:id="rId14"/>
    <p:sldId id="278" r:id="rId15"/>
    <p:sldId id="263" r:id="rId16"/>
    <p:sldId id="272" r:id="rId17"/>
    <p:sldId id="273" r:id="rId18"/>
    <p:sldId id="275" r:id="rId19"/>
    <p:sldId id="274" r:id="rId20"/>
    <p:sldId id="264" r:id="rId21"/>
    <p:sldId id="26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 autoAdjust="0"/>
    <p:restoredTop sz="94033"/>
  </p:normalViewPr>
  <p:slideViewPr>
    <p:cSldViewPr snapToGrid="0">
      <p:cViewPr varScale="1">
        <p:scale>
          <a:sx n="114" d="100"/>
          <a:sy n="114" d="100"/>
        </p:scale>
        <p:origin x="1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23/04/26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23/04/26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**On "The Gap" bullets:**</a:t>
            </a:r>
          </a:p>
          <a:p>
            <a:r>
              <a:rPr lang="en-US" dirty="0"/>
              <a:t>- T1 scans are routinely missed in clinical settings — patients move, scan slots are limited, and multi-modal acquisition is expensive, especially in resource-limited hospitals</a:t>
            </a:r>
          </a:p>
          <a:p>
            <a:r>
              <a:rPr lang="en-US" dirty="0"/>
              <a:t>- Existing GAN-based synthesis methods produce convincing images, but they are complete black boxes — a radiologist has no way to verify *what* anatomical features the model relied on</a:t>
            </a:r>
          </a:p>
          <a:p>
            <a:r>
              <a:rPr lang="en-US" dirty="0"/>
              <a:t>- Without that explanation, clinical adoption stalls — no radiologist will stake a diagnosis on a model they cannot interrogate</a:t>
            </a:r>
          </a:p>
          <a:p>
            <a:endParaRPr lang="en-US" dirty="0"/>
          </a:p>
          <a:p>
            <a:r>
              <a:rPr lang="en-US" dirty="0"/>
              <a:t>---</a:t>
            </a:r>
          </a:p>
          <a:p>
            <a:endParaRPr lang="en-US" dirty="0"/>
          </a:p>
          <a:p>
            <a:r>
              <a:rPr lang="en-US" dirty="0"/>
              <a:t>**On "Our System" bullets:**</a:t>
            </a:r>
          </a:p>
          <a:p>
            <a:r>
              <a:rPr lang="en-US" dirty="0"/>
              <a:t>- We built on the Pix2Pix framework but replaced the U-Net generator with a lighter ResNet-9 — 9 residual blocks in an encoder-decoder, just 11.4 million parameters at inference</a:t>
            </a:r>
          </a:p>
          <a:p>
            <a:r>
              <a:rPr lang="en-US" dirty="0"/>
              <a:t>- The key addition is Grad-CAM applied to the final convolutional layer — this gives us a per-slice heatmap that literally highlights which FLAIR voxels drove the T1 synthesis decision</a:t>
            </a:r>
          </a:p>
          <a:p>
            <a:r>
              <a:rPr lang="en-US" dirty="0"/>
              <a:t>- We also systematically refined the loss function — starting from a baseline Pix2Pix with a single L1 loss, we built up a 7-component compound objective adding VGG perceptual loss, MS-SSIM, feature matching, edge-aware, and local contrast terms — that refinement alone pushed SSIM from 0.807 to 0.8936, a 10.7% improvement</a:t>
            </a:r>
          </a:p>
          <a:p>
            <a:endParaRPr lang="en-US" dirty="0"/>
          </a:p>
          <a:p>
            <a:r>
              <a:rPr lang="en-US" dirty="0"/>
              <a:t>---</a:t>
            </a:r>
          </a:p>
          <a:p>
            <a:endParaRPr lang="en-US" dirty="0"/>
          </a:p>
          <a:p>
            <a:r>
              <a:rPr lang="en-US" dirty="0"/>
              <a:t>**On the Results table:**</a:t>
            </a:r>
          </a:p>
          <a:p>
            <a:r>
              <a:rPr lang="en-US" dirty="0"/>
              <a:t>- All four methods were trained and evaluated on the same </a:t>
            </a:r>
            <a:r>
              <a:rPr lang="en-US" dirty="0" err="1"/>
              <a:t>BraTS</a:t>
            </a:r>
            <a:r>
              <a:rPr lang="en-US" dirty="0"/>
              <a:t> 2021 held-out test set of 251 subjects — same data, same conditions, direct comparison</a:t>
            </a:r>
          </a:p>
          <a:p>
            <a:r>
              <a:rPr lang="en-US" dirty="0"/>
              <a:t>- </a:t>
            </a:r>
            <a:r>
              <a:rPr lang="en-US" dirty="0" err="1"/>
              <a:t>CycleGAN</a:t>
            </a:r>
            <a:r>
              <a:rPr lang="en-US" dirty="0"/>
              <a:t> and Attention-GAN are unpaired methods — they use two generators and two discriminators, hence the larger parameter counts (28-29M) — yet still underperform significantly in SSIM</a:t>
            </a:r>
          </a:p>
          <a:p>
            <a:r>
              <a:rPr lang="en-US" dirty="0"/>
              <a:t>- Pix2Pix is the closest baseline — SSIM 0.885 vs our 0.894 — but it requires 57M parameters, four times more than our 14.15M training footprint</a:t>
            </a:r>
          </a:p>
          <a:p>
            <a:r>
              <a:rPr lang="en-US" dirty="0"/>
              <a:t>- We are the only method with interpretability — and we achieve the best SSIM and MAE simultaneously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663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"Context" bullets: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MRI is now foundational in oncology and neurology — not optional imaging, the standard of care for brain tumor diagnosis and treatment planning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point is that a single scan session can produce multiple modalities — T1, T2, FLAIR, DWI — each tuned to reveal different tissue properties at the same anatomy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T1 gives you clear anatomical structure — gray matter, white matter, CSF boundaries — essentially the road map of the brain. Point to the bottom image — clean, crisp grey-white contrast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FLAIR suppresses CSF signal but keeps lesion signal bright — so periventricular white matter lesions that T1 completely misses become hyperintense and obvious. Point to the top image — that bright region in the lower-left is a glioblastoma that T1 would show far less dramatically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practice, one modality goes missing all the time — motion artifact corrupts it, time pressure skips it, the scanner protocol wasn't set up for it. That's the clinical gap we're solving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"The Problem" bullets: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Pix2Pix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shown this synthesis is technically possible — we're not solving "can you generate it," that's been done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unsolved part is trust — a radiologist looking at a synthesized T1 has no way to verify the model didn't hallucinate anatomy, because the model gives no explanation whatsoever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interpretability barrier — not a performance problem, a deployment problem. The image might be 89% structurally similar to ground truth, but the clinician has zero visibility into which part of the FLAIR input drove each region of the output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72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*[Bullet 1 — Architecture]*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start with a Pix2Pix foundation but swap the standard U-Net generator for a ResNet-9 — 9 residual blocks in the bottleneck, processing 256×256 FLAIR slices, 11.4 million parameters at inference."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*[Bullet 2 — Grad-CAM — gesture to heatmap]*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key differentiator: we embed Grad-CAM on the final generator conv layer. That heatmap on the right shows exactly which FLAIR voxels are driving each T1 synthesis — the red ventricle boundaries are the highest-influence regions. And we don't just visualize it — we quantify it with entropy and spatial variance metrics."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*[Bullet 3 — Loss]*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 get the quality up, we extended the Pix2Pix loss to 7 components — including LSGAN adversarial objective for stable training, plus novel edge-aware and local contrast terms. That combination is what pushed SSIM from a baseline of 0.807 up to 0.894."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*[Bullet 4 — Efficiency]*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"Residual skip connections handle anatomical detail preservation inside the bottleneck — no need for U-Net's encoder-decoder skip concatenations, which is why we're 4.8× smaller than standard Pix2Pix at inference."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*[Bullet 5 — Data]*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"Trained on all 1,251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2021 glioblastoma volumes, then externally validated on a completely independent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2023 dataset — 219 subjects the model had never seen."</a:t>
            </a:r>
            <a:endParaRPr lang="en-US" b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750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23/04/26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23/04/26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23/04/26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23/04/26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23/04/26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23/04/26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23/04/26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23/04/26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23/04/26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23/04/26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23/04/26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23/04/26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677" y="992038"/>
            <a:ext cx="11842810" cy="5399883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sz="1400" dirty="0"/>
              <a:t>    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IN" sz="2000" dirty="0"/>
              <a:t> </a:t>
            </a:r>
            <a:r>
              <a:rPr lang="en-US" sz="2000" b="1" dirty="0">
                <a:latin typeface="Comic Sans MS" panose="030F0702030302020204" pitchFamily="66" charset="0"/>
              </a:rPr>
              <a:t>INTERNATIONAL CONFERENCE ON</a:t>
            </a:r>
          </a:p>
          <a:p>
            <a:r>
              <a:rPr lang="en-US" sz="2000" b="1" dirty="0">
                <a:latin typeface="Comic Sans MS" panose="030F0702030302020204" pitchFamily="66" charset="0"/>
              </a:rPr>
              <a:t>CYBERSECURITY, DATA SCIENCE, AND MACHINE LEARNING</a:t>
            </a:r>
          </a:p>
          <a:p>
            <a:r>
              <a:rPr lang="en-US" sz="2000" b="1" dirty="0">
                <a:latin typeface="Comic Sans MS" panose="030F0702030302020204" pitchFamily="66" charset="0"/>
              </a:rPr>
              <a:t>(ICCDM-2026)</a:t>
            </a:r>
            <a:endParaRPr lang="en-IN" sz="2000" dirty="0">
              <a:latin typeface="Comic Sans MS" panose="030F0702030302020204" pitchFamily="66" charset="0"/>
            </a:endParaRPr>
          </a:p>
          <a:p>
            <a:r>
              <a:rPr lang="en-IN" sz="1400" b="1" dirty="0">
                <a:latin typeface="Comic Sans MS" panose="030F0702030302020204" pitchFamily="66" charset="0"/>
              </a:rPr>
              <a:t>Organised by : </a:t>
            </a:r>
          </a:p>
          <a:p>
            <a:r>
              <a:rPr lang="en-IN" b="1" dirty="0" err="1">
                <a:latin typeface="Comic Sans MS" panose="030F0702030302020204" pitchFamily="66" charset="0"/>
              </a:rPr>
              <a:t>Universiti</a:t>
            </a:r>
            <a:r>
              <a:rPr lang="en-IN" b="1" dirty="0">
                <a:latin typeface="Comic Sans MS" panose="030F0702030302020204" pitchFamily="66" charset="0"/>
              </a:rPr>
              <a:t> Putra Malaysia, Selangor, Kuala Lumpur, Malaysia;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Keshav Mahavidyalaya, University of Delhi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&amp;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Universal Inovators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23rd-24th April 2026</a:t>
            </a:r>
            <a:endParaRPr lang="en-IN" sz="28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94E90-6EEC-4A39-9DE9-29969A26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0012" y="12958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AC4284-CF8B-430F-B02C-AA377900C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706" y="858693"/>
            <a:ext cx="2536278" cy="1233996"/>
          </a:xfrm>
          <a:prstGeom prst="rect">
            <a:avLst/>
          </a:prstGeom>
        </p:spPr>
      </p:pic>
      <p:pic>
        <p:nvPicPr>
          <p:cNvPr id="1028" name="Picture 4" descr="College Logo">
            <a:extLst>
              <a:ext uri="{FF2B5EF4-FFF2-40B4-BE49-F238E27FC236}">
                <a16:creationId xmlns:a16="http://schemas.microsoft.com/office/drawing/2014/main" id="{B2E55A00-5D98-CDEB-FFE5-FDE12B640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00" y="858693"/>
            <a:ext cx="2288066" cy="1414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AIN-2026">
            <a:extLst>
              <a:ext uri="{FF2B5EF4-FFF2-40B4-BE49-F238E27FC236}">
                <a16:creationId xmlns:a16="http://schemas.microsoft.com/office/drawing/2014/main" id="{1D0E7EBB-482C-FEF2-DC93-E05DED3DB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769" y="790113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Explainable FLAIR-to-T1 MRI Synthesis: Interpretable Residual GANs</a:t>
            </a:r>
          </a:p>
          <a:p>
            <a:pPr algn="l"/>
            <a:br>
              <a:rPr lang="en-US" sz="3200" dirty="0"/>
            </a:br>
            <a:r>
              <a:rPr lang="en-US" b="1" dirty="0"/>
              <a:t>Publication:</a:t>
            </a:r>
            <a:r>
              <a:rPr lang="en-US" dirty="0"/>
              <a:t> Springer LNNS Series (Indexed: Scopus, </a:t>
            </a:r>
            <a:r>
              <a:rPr lang="en-US" dirty="0" err="1"/>
              <a:t>zbMATH</a:t>
            </a:r>
            <a:r>
              <a:rPr lang="en-US" dirty="0"/>
              <a:t>, DBLP, EI </a:t>
            </a:r>
            <a:r>
              <a:rPr lang="en-US" dirty="0" err="1"/>
              <a:t>Compendex</a:t>
            </a:r>
            <a:r>
              <a:rPr lang="en-US" dirty="0"/>
              <a:t>, </a:t>
            </a:r>
            <a:r>
              <a:rPr lang="en-US" dirty="0" err="1"/>
              <a:t>SCImago</a:t>
            </a:r>
            <a:r>
              <a:rPr lang="en-US" dirty="0"/>
              <a:t>)</a:t>
            </a:r>
            <a:endParaRPr lang="en-US" sz="3200" dirty="0"/>
          </a:p>
          <a:p>
            <a:r>
              <a:rPr lang="en-US" b="1" dirty="0"/>
              <a:t>Authors</a:t>
            </a:r>
            <a:endParaRPr lang="en-US" dirty="0"/>
          </a:p>
          <a:p>
            <a:r>
              <a:rPr lang="en-US" dirty="0"/>
              <a:t>Dr. Poonkodi M* (Corresponding Author) — VIT Chennai</a:t>
            </a:r>
          </a:p>
          <a:p>
            <a:r>
              <a:rPr lang="en-US" dirty="0"/>
              <a:t>Dr. Sakthivel V — VIT Chennai</a:t>
            </a:r>
          </a:p>
          <a:p>
            <a:r>
              <a:rPr lang="en-US" dirty="0"/>
              <a:t>Meera R. Deepu — VIT Chennai</a:t>
            </a:r>
          </a:p>
          <a:p>
            <a:r>
              <a:rPr lang="en-US" dirty="0"/>
              <a:t>Atchudhan Sreekanth — VIT Chennai</a:t>
            </a:r>
          </a:p>
          <a:p>
            <a:r>
              <a:rPr lang="en-US" dirty="0"/>
              <a:t>Eshwar B. — VIT Chennai</a:t>
            </a:r>
          </a:p>
          <a:p>
            <a:r>
              <a:rPr lang="en-US" b="1" dirty="0"/>
              <a:t>Affiliation:</a:t>
            </a:r>
            <a:r>
              <a:rPr lang="en-US" dirty="0"/>
              <a:t> Vellore Institute of Technology, Chennai, India</a:t>
            </a:r>
          </a:p>
          <a:p>
            <a:pPr algn="l"/>
            <a:endParaRPr lang="en-US" sz="3200" dirty="0">
              <a:latin typeface="Comic Sans MS" panose="030F0702030302020204" pitchFamily="66" charset="0"/>
            </a:endParaRPr>
          </a:p>
          <a:p>
            <a:pPr algn="l"/>
            <a:endParaRPr lang="en-IN" sz="3200" dirty="0">
              <a:latin typeface="Comic Sans MS" panose="030F0702030302020204" pitchFamily="66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6F94E90-6EEC-4A39-9DE9-29969A26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0363" y="6100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</p:spTree>
    <p:extLst>
      <p:ext uri="{BB962C8B-B14F-4D97-AF65-F5344CB8AC3E}">
        <p14:creationId xmlns:p14="http://schemas.microsoft.com/office/powerpoint/2010/main" val="413292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>
            <a:normAutofit/>
          </a:bodyPr>
          <a:lstStyle/>
          <a:p>
            <a:pPr algn="l"/>
            <a:r>
              <a:rPr lang="en-IN" sz="2600" b="1" dirty="0">
                <a:latin typeface="Comic Sans MS" panose="030F0702030302020204" pitchFamily="66" charset="0"/>
              </a:rPr>
              <a:t>2. INDEX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ABDC850-22B0-636A-5C2E-BA6B3403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5930" y="281598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022C4B-40B7-6906-E1C5-59ECEA3D3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556868"/>
              </p:ext>
            </p:extLst>
          </p:nvPr>
        </p:nvGraphicFramePr>
        <p:xfrm>
          <a:off x="1428741" y="1320554"/>
          <a:ext cx="9473601" cy="525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436">
                  <a:extLst>
                    <a:ext uri="{9D8B030D-6E8A-4147-A177-3AD203B41FA5}">
                      <a16:colId xmlns:a16="http://schemas.microsoft.com/office/drawing/2014/main" val="4209610404"/>
                    </a:ext>
                  </a:extLst>
                </a:gridCol>
                <a:gridCol w="8347165">
                  <a:extLst>
                    <a:ext uri="{9D8B030D-6E8A-4147-A177-3AD203B41FA5}">
                      <a16:colId xmlns:a16="http://schemas.microsoft.com/office/drawing/2014/main" val="101016640"/>
                    </a:ext>
                  </a:extLst>
                </a:gridCol>
              </a:tblGrid>
              <a:tr h="397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Slide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Section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804732003"/>
                  </a:ext>
                </a:extLst>
              </a:tr>
              <a:tr h="397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Title &amp; Authors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6825371"/>
                  </a:ext>
                </a:extLst>
              </a:tr>
              <a:tr h="397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Outline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8279211"/>
                  </a:ext>
                </a:extLst>
              </a:tr>
              <a:tr h="3979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Abstract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737482"/>
                  </a:ext>
                </a:extLst>
              </a:tr>
              <a:tr h="68678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 — Problem &amp; Clinical Motivation, Our Solution, and End-to-End Workflow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949028"/>
                  </a:ext>
                </a:extLst>
              </a:tr>
              <a:tr h="6704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Literature Review — GAN Foundations &amp; Architecture, 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Explainability &amp; Medical Imaging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060238910"/>
                  </a:ext>
                </a:extLst>
              </a:tr>
              <a:tr h="3979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Research 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85769"/>
                  </a:ext>
                </a:extLst>
              </a:tr>
              <a:tr h="3979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Proposed Methodology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63966"/>
                  </a:ext>
                </a:extLst>
              </a:tr>
              <a:tr h="6704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14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 &amp; Discussion — Visual Inspection, Quantitative Results, Baseline Comparison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18687699"/>
                  </a:ext>
                </a:extLst>
              </a:tr>
              <a:tr h="397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20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Conclusion &amp; Future Work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459121327"/>
                  </a:ext>
                </a:extLst>
              </a:tr>
              <a:tr h="397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</a:rPr>
                        <a:t>21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References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573536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6006885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IN" sz="6300" dirty="0">
                <a:latin typeface="Comic Sans MS" panose="030F0702030302020204" pitchFamily="66" charset="0"/>
              </a:rPr>
              <a:t>3. ABSTRACT</a:t>
            </a:r>
          </a:p>
          <a:p>
            <a:pPr algn="l"/>
            <a:endParaRPr lang="en-US" sz="4000" b="1" dirty="0"/>
          </a:p>
          <a:p>
            <a:pPr algn="l"/>
            <a:r>
              <a:rPr lang="en-US" sz="4600" b="1" dirty="0"/>
              <a:t>The Gap</a:t>
            </a:r>
            <a:endParaRPr lang="en-US" sz="4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000" dirty="0"/>
              <a:t>Clinicians often can't acquire T1 — patient motion, scanner time, cost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000" dirty="0"/>
              <a:t>GANs can synthesize it, but produce no explanation of </a:t>
            </a:r>
            <a:r>
              <a:rPr lang="en-US" sz="4000" i="1" dirty="0"/>
              <a:t>what</a:t>
            </a:r>
            <a:r>
              <a:rPr lang="en-US" sz="4000" dirty="0"/>
              <a:t> they looked at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000" dirty="0"/>
              <a:t>Radiologists cannot trust a black-box synthesis tool clinically</a:t>
            </a:r>
          </a:p>
          <a:p>
            <a:pPr algn="l"/>
            <a:endParaRPr lang="en-US" sz="4000" dirty="0"/>
          </a:p>
          <a:p>
            <a:pPr algn="l"/>
            <a:r>
              <a:rPr lang="en-US" sz="4600" b="1" dirty="0"/>
              <a:t>Our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000" dirty="0"/>
              <a:t>ResNet-9 generator (11.4M params) + </a:t>
            </a:r>
            <a:r>
              <a:rPr lang="en-US" sz="4000" dirty="0" err="1"/>
              <a:t>PatchGAN</a:t>
            </a:r>
            <a:r>
              <a:rPr lang="en-US" sz="4000" dirty="0"/>
              <a:t> discriminator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000" b="1" dirty="0"/>
              <a:t>Grad-CAM</a:t>
            </a:r>
            <a:r>
              <a:rPr lang="en-US" sz="4000" dirty="0"/>
              <a:t> on final conv layer → per-slice saliency map showing which FLAIR voxels drove T1 synthesis </a:t>
            </a:r>
          </a:p>
          <a:p>
            <a:pPr algn="l"/>
            <a:r>
              <a:rPr lang="en-US" sz="4000" dirty="0"/>
              <a:t>       7-component compound loss → SSIM improved from </a:t>
            </a:r>
            <a:r>
              <a:rPr lang="en-US" sz="4000" b="1" dirty="0"/>
              <a:t>0.807 → 0.8936</a:t>
            </a:r>
            <a:r>
              <a:rPr lang="en-US" sz="4000" dirty="0"/>
              <a:t> (+10.7%)</a:t>
            </a:r>
          </a:p>
          <a:p>
            <a:pPr algn="l"/>
            <a:endParaRPr lang="en-US" sz="1900" b="1" dirty="0"/>
          </a:p>
          <a:p>
            <a:pPr algn="l"/>
            <a:endParaRPr lang="en-US" sz="2800" b="1" dirty="0"/>
          </a:p>
          <a:p>
            <a:pPr algn="l"/>
            <a:r>
              <a:rPr lang="en-US" sz="5300" b="1" dirty="0"/>
              <a:t>Results at a glance</a:t>
            </a:r>
            <a:endParaRPr lang="en-US" sz="5300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sz="2000" dirty="0"/>
          </a:p>
          <a:p>
            <a:pPr algn="l"/>
            <a:br>
              <a:rPr lang="en-US" dirty="0"/>
            </a:b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D09B71B-BF0C-A04B-520E-5C5F9C1C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  <a:endParaRPr lang="en-IN" sz="3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5D8F6B7-2520-094A-9741-182E614BD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469331"/>
              </p:ext>
            </p:extLst>
          </p:nvPr>
        </p:nvGraphicFramePr>
        <p:xfrm>
          <a:off x="3555911" y="4690048"/>
          <a:ext cx="817445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890">
                  <a:extLst>
                    <a:ext uri="{9D8B030D-6E8A-4147-A177-3AD203B41FA5}">
                      <a16:colId xmlns:a16="http://schemas.microsoft.com/office/drawing/2014/main" val="1612271472"/>
                    </a:ext>
                  </a:extLst>
                </a:gridCol>
                <a:gridCol w="1634890">
                  <a:extLst>
                    <a:ext uri="{9D8B030D-6E8A-4147-A177-3AD203B41FA5}">
                      <a16:colId xmlns:a16="http://schemas.microsoft.com/office/drawing/2014/main" val="1500983479"/>
                    </a:ext>
                  </a:extLst>
                </a:gridCol>
                <a:gridCol w="1634890">
                  <a:extLst>
                    <a:ext uri="{9D8B030D-6E8A-4147-A177-3AD203B41FA5}">
                      <a16:colId xmlns:a16="http://schemas.microsoft.com/office/drawing/2014/main" val="3600708818"/>
                    </a:ext>
                  </a:extLst>
                </a:gridCol>
                <a:gridCol w="1634890">
                  <a:extLst>
                    <a:ext uri="{9D8B030D-6E8A-4147-A177-3AD203B41FA5}">
                      <a16:colId xmlns:a16="http://schemas.microsoft.com/office/drawing/2014/main" val="724315669"/>
                    </a:ext>
                  </a:extLst>
                </a:gridCol>
                <a:gridCol w="1634890">
                  <a:extLst>
                    <a:ext uri="{9D8B030D-6E8A-4147-A177-3AD203B41FA5}">
                      <a16:colId xmlns:a16="http://schemas.microsoft.com/office/drawing/2014/main" val="2080659521"/>
                    </a:ext>
                  </a:extLst>
                </a:gridCol>
              </a:tblGrid>
              <a:tr h="292705">
                <a:tc>
                  <a:txBody>
                    <a:bodyPr/>
                    <a:lstStyle/>
                    <a:p>
                      <a:r>
                        <a:rPr lang="en-US" sz="17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MAE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Interpretability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167167"/>
                  </a:ext>
                </a:extLst>
              </a:tr>
              <a:tr h="292705">
                <a:tc>
                  <a:txBody>
                    <a:bodyPr/>
                    <a:lstStyle/>
                    <a:p>
                      <a:r>
                        <a:rPr lang="en-US" sz="1700" dirty="0" err="1"/>
                        <a:t>CycleGAN</a:t>
                      </a:r>
                      <a:r>
                        <a:rPr lang="en-US" sz="17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28.29M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81437"/>
                  </a:ext>
                </a:extLst>
              </a:tr>
              <a:tr h="292705">
                <a:tc>
                  <a:txBody>
                    <a:bodyPr/>
                    <a:lstStyle/>
                    <a:p>
                      <a:r>
                        <a:rPr lang="en-US" sz="1700" dirty="0"/>
                        <a:t>Attention-GAN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29.03M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966855"/>
                  </a:ext>
                </a:extLst>
              </a:tr>
              <a:tr h="292705">
                <a:tc>
                  <a:txBody>
                    <a:bodyPr/>
                    <a:lstStyle/>
                    <a:p>
                      <a:r>
                        <a:rPr lang="en-US" sz="1700" dirty="0"/>
                        <a:t>Pix2Pix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57.17M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716208"/>
                  </a:ext>
                </a:extLst>
              </a:tr>
              <a:tr h="292705">
                <a:tc>
                  <a:txBody>
                    <a:bodyPr/>
                    <a:lstStyle/>
                    <a:p>
                      <a:r>
                        <a:rPr lang="en-US" sz="1700" b="1" dirty="0"/>
                        <a:t>Ours (ResNet-9)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0.894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14.15M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Grad-CAM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496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2D05657-94EE-4B2D-BC1B-A1D06506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7586665A-47B3-4AEE-BC94-15D89FF7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5099" y="486184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D4FFE8-DCDB-29C3-0BA5-267F2730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2" y="486184"/>
            <a:ext cx="7363990" cy="7417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Comic Sans MS" panose="030F0902030302020204" pitchFamily="66" charset="0"/>
              </a:rPr>
              <a:t>4. INTRODUCTION</a:t>
            </a:r>
          </a:p>
        </p:txBody>
      </p:sp>
      <p:pic>
        <p:nvPicPr>
          <p:cNvPr id="7" name="Content Placeholder 6" descr="A close-up of a brain&#10;&#10;AI-generated content may be incorrect.">
            <a:extLst>
              <a:ext uri="{FF2B5EF4-FFF2-40B4-BE49-F238E27FC236}">
                <a16:creationId xmlns:a16="http://schemas.microsoft.com/office/drawing/2014/main" id="{ECDAAFC6-D43F-708F-E51E-2CBC43673C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581526" y="252833"/>
            <a:ext cx="3118718" cy="3118718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</p:spPr>
      </p:pic>
      <p:pic>
        <p:nvPicPr>
          <p:cNvPr id="9" name="Picture 8" descr="A close-up of a brain&#10;&#10;AI-generated content may be incorrect.">
            <a:extLst>
              <a:ext uri="{FF2B5EF4-FFF2-40B4-BE49-F238E27FC236}">
                <a16:creationId xmlns:a16="http://schemas.microsoft.com/office/drawing/2014/main" id="{9C2154F8-FE8E-8F5F-76E5-1261CB0984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581526" y="3486450"/>
            <a:ext cx="3118718" cy="3118718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74570" y="1307715"/>
            <a:ext cx="7363990" cy="4665165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Context:</a:t>
            </a:r>
            <a:endParaRPr lang="en-US" sz="1600" dirty="0"/>
          </a:p>
          <a:p>
            <a:pPr marL="342900"/>
            <a:r>
              <a:rPr lang="en-US" sz="1600" dirty="0"/>
              <a:t>MRI is a core modality in modern healthcare — noninvasive, high-resolution soft tissue imaging critical for oncology and neurology</a:t>
            </a:r>
          </a:p>
          <a:p>
            <a:pPr marL="342900"/>
            <a:r>
              <a:rPr lang="en-US" sz="1600" dirty="0"/>
              <a:t>Multiple MRI acquisition modalities exist (T1-weighted, FLAIR, T2, etc.) each revealing different contrasts and pathologies</a:t>
            </a:r>
          </a:p>
          <a:p>
            <a:pPr marL="342900"/>
            <a:r>
              <a:rPr lang="en-US" sz="1600" dirty="0"/>
              <a:t>T1-weighted MRI provides excellent gray-white matter contrast; FLAIR highlights periventricular lesions</a:t>
            </a:r>
          </a:p>
          <a:p>
            <a:pPr marL="342900"/>
            <a:r>
              <a:rPr lang="en-US" sz="1600" dirty="0"/>
              <a:t>Clinical scenarios often leave one modality unavailable (patient motion, time constraints, scanner limitations)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The Problem:</a:t>
            </a:r>
          </a:p>
          <a:p>
            <a:pPr marL="342900"/>
            <a:r>
              <a:rPr lang="en-US" sz="1600" dirty="0"/>
              <a:t>Generative models (Pix2Pix, </a:t>
            </a:r>
            <a:r>
              <a:rPr lang="en-US" sz="1600" dirty="0" err="1"/>
              <a:t>CycleGAN</a:t>
            </a:r>
            <a:r>
              <a:rPr lang="en-US" sz="1600" dirty="0"/>
              <a:t>) have shown success in cross-modal MRI synthesis</a:t>
            </a:r>
          </a:p>
          <a:p>
            <a:pPr marL="342900"/>
            <a:r>
              <a:rPr lang="en-US" sz="1600" b="1" dirty="0"/>
              <a:t>But:</a:t>
            </a:r>
            <a:r>
              <a:rPr lang="en-US" sz="1600" dirty="0"/>
              <a:t> Clinical deployment demands interpretability — clinicians need to understand </a:t>
            </a:r>
            <a:r>
              <a:rPr lang="en-US" sz="1600" i="1" dirty="0"/>
              <a:t>what</a:t>
            </a:r>
            <a:r>
              <a:rPr lang="en-US" sz="1600" dirty="0"/>
              <a:t> the model is doing and </a:t>
            </a:r>
            <a:r>
              <a:rPr lang="en-US" sz="1600" i="1" dirty="0"/>
              <a:t>why</a:t>
            </a:r>
          </a:p>
          <a:p>
            <a:pPr marL="342900"/>
            <a:r>
              <a:rPr lang="en-US" sz="1600" dirty="0"/>
              <a:t>Existing models are "black boxes" — they produce outputs but provide no explanation of which anatomical regions drive the synthesis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83A0CD6-26AC-2FDA-E318-9C6D0337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2231" y="57470"/>
            <a:ext cx="3754706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2600" kern="1200" dirty="0">
                <a:solidFill>
                  <a:schemeClr val="tx1">
                    <a:tint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rPr>
              <a:t>ICCDM-2026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37DD3-3807-109B-929F-05A4E67AD6FD}"/>
              </a:ext>
            </a:extLst>
          </p:cNvPr>
          <p:cNvSpPr txBox="1"/>
          <p:nvPr/>
        </p:nvSpPr>
        <p:spPr>
          <a:xfrm>
            <a:off x="3974570" y="5990969"/>
            <a:ext cx="8346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Top:</a:t>
            </a:r>
            <a:r>
              <a:rPr lang="en-US" sz="1600" dirty="0"/>
              <a:t> FLAIR scan — hyperintense periventricular lesion clearly visible</a:t>
            </a:r>
          </a:p>
          <a:p>
            <a:r>
              <a:rPr lang="en-US" sz="1600" b="1" dirty="0"/>
              <a:t>Bottom:</a:t>
            </a:r>
            <a:r>
              <a:rPr lang="en-US" sz="1600" dirty="0"/>
              <a:t> T1-weighted MRI — same slice, grey-white matter contrast without lesion highlight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460CD-C4F4-FC54-B1F0-EFDC6EEE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C576A9-BD7B-B5D3-DF2C-3D112A11D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496888"/>
            <a:ext cx="11018520" cy="96701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latin typeface="Comic Sans MS" panose="030F0902030302020204" pitchFamily="66" charset="0"/>
              </a:rPr>
              <a:t>4. INTRODUCTION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A4D30-CD89-E33E-B4D4-76ACB8219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493" y="1805738"/>
            <a:ext cx="6713552" cy="48472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500" b="1" dirty="0"/>
              <a:t>Our Solution:</a:t>
            </a:r>
            <a:endParaRPr lang="en-US" sz="2500" dirty="0"/>
          </a:p>
          <a:p>
            <a:pPr marL="342900"/>
            <a:r>
              <a:rPr lang="en-US" sz="2000" dirty="0"/>
              <a:t>A Pix2Pix-based framework with a </a:t>
            </a:r>
            <a:r>
              <a:rPr lang="en-US" sz="2000" b="1" dirty="0"/>
              <a:t>ResNet-9 generator</a:t>
            </a:r>
            <a:r>
              <a:rPr lang="en-US" sz="2000" dirty="0"/>
              <a:t> (11.4M params) and </a:t>
            </a:r>
            <a:r>
              <a:rPr lang="en-US" sz="2000" b="1" dirty="0" err="1"/>
              <a:t>PatchGAN</a:t>
            </a:r>
            <a:r>
              <a:rPr lang="en-US" sz="2000" b="1" dirty="0"/>
              <a:t> discriminator</a:t>
            </a:r>
            <a:r>
              <a:rPr lang="en-US" sz="2000" dirty="0"/>
              <a:t> for FLAIR-to-T1 synthesis</a:t>
            </a:r>
          </a:p>
          <a:p>
            <a:pPr marL="342900"/>
            <a:r>
              <a:rPr lang="en-US" sz="2000" b="1" dirty="0"/>
              <a:t>Grad-CAM</a:t>
            </a:r>
            <a:r>
              <a:rPr lang="en-US" sz="2000" dirty="0"/>
              <a:t> on final conv layer → quantified saliency (entropy + spatial variance) transforming synthesis into a </a:t>
            </a:r>
            <a:r>
              <a:rPr lang="en-US" sz="2000" b="1" dirty="0"/>
              <a:t>measurable, interpretable decision aid</a:t>
            </a:r>
          </a:p>
          <a:p>
            <a:pPr marL="342900"/>
            <a:r>
              <a:rPr lang="en-US" sz="2000" b="1" dirty="0"/>
              <a:t>Compound loss</a:t>
            </a:r>
            <a:r>
              <a:rPr lang="en-US" sz="2000" dirty="0"/>
              <a:t> (7 components): LSGAN adversarial + edge-preserving + local contrast — improves SSIM from 0.807 → </a:t>
            </a:r>
            <a:r>
              <a:rPr lang="en-US" sz="2000" b="1" dirty="0"/>
              <a:t>0.894</a:t>
            </a:r>
          </a:p>
          <a:p>
            <a:pPr marL="342900"/>
            <a:r>
              <a:rPr lang="en-US" sz="2000" b="1" dirty="0"/>
              <a:t>Residual skip connections</a:t>
            </a:r>
            <a:r>
              <a:rPr lang="en-US" sz="2000" dirty="0"/>
              <a:t> preserve fine anatomical structure without U-Net's parameter cost — enabling 4.8× parameter reduction over standard Pix2Pix</a:t>
            </a:r>
          </a:p>
          <a:p>
            <a:pPr marL="342900"/>
            <a:r>
              <a:rPr lang="en-US" sz="2000" dirty="0"/>
              <a:t>Trained on 1,251 paired FLAIR/T1 volumes from </a:t>
            </a:r>
            <a:r>
              <a:rPr lang="en-US" sz="2000" dirty="0" err="1"/>
              <a:t>BraTS</a:t>
            </a:r>
            <a:r>
              <a:rPr lang="en-US" sz="2000" dirty="0"/>
              <a:t> 2021 — validated on independent </a:t>
            </a:r>
            <a:r>
              <a:rPr lang="en-US" sz="2000" dirty="0" err="1"/>
              <a:t>BraTS</a:t>
            </a:r>
            <a:r>
              <a:rPr lang="en-US" sz="2000" dirty="0"/>
              <a:t> 2023 (219 subjects)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9" name="Content Placeholder 8" descr="A heat map of a brain&#10;&#10;AI-generated content may be incorrect.">
            <a:extLst>
              <a:ext uri="{FF2B5EF4-FFF2-40B4-BE49-F238E27FC236}">
                <a16:creationId xmlns:a16="http://schemas.microsoft.com/office/drawing/2014/main" id="{751F1607-61EA-FCA1-CFC2-4C1F9207A9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" r="9753" b="3"/>
          <a:stretch>
            <a:fillRect/>
          </a:stretch>
        </p:blipFill>
        <p:spPr>
          <a:xfrm>
            <a:off x="7649949" y="1809303"/>
            <a:ext cx="3941064" cy="4119172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BDDB752-2145-D6E8-8F7F-2D1E22F9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0858" y="86869"/>
            <a:ext cx="4114800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3000" kern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ICCDM-2026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B4208F-7CE5-D44F-C580-A9B08C4F4017}"/>
              </a:ext>
            </a:extLst>
          </p:cNvPr>
          <p:cNvSpPr txBox="1"/>
          <p:nvPr/>
        </p:nvSpPr>
        <p:spPr>
          <a:xfrm>
            <a:off x="7424289" y="5884927"/>
            <a:ext cx="4626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Grad-CAM saliency map showing FLAIR voxels that have a high degree of influence on T1 synthesis.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6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03FF2-65A7-9664-0C84-802B89FE5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994533-5633-1977-4C0C-6118F6340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4"/>
            <a:ext cx="11407806" cy="6006884"/>
          </a:xfrm>
        </p:spPr>
        <p:txBody>
          <a:bodyPr>
            <a:normAutofit/>
          </a:bodyPr>
          <a:lstStyle/>
          <a:p>
            <a:pPr algn="l"/>
            <a:r>
              <a:rPr lang="en-IN" sz="3500" dirty="0">
                <a:latin typeface="Comic Sans MS" panose="030F0702030302020204" pitchFamily="66" charset="0"/>
              </a:rPr>
              <a:t>4. INTRODUCTION</a:t>
            </a:r>
          </a:p>
          <a:p>
            <a:pPr algn="l"/>
            <a:endParaRPr lang="en-US" b="1" dirty="0"/>
          </a:p>
          <a:p>
            <a:br>
              <a:rPr lang="en-US" dirty="0"/>
            </a:br>
            <a:br>
              <a:rPr lang="en-US" dirty="0"/>
            </a:b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B19F3BE-1930-8D20-2220-BD07F38F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  <a:endParaRPr lang="en-IN" sz="3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3FB8EB-C6E3-739E-416B-6EA0BB7EB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97" y="1326008"/>
            <a:ext cx="9091605" cy="46590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3B336-3D30-2EAA-E64F-ABB5DE9D1C6E}"/>
              </a:ext>
            </a:extLst>
          </p:cNvPr>
          <p:cNvSpPr txBox="1"/>
          <p:nvPr/>
        </p:nvSpPr>
        <p:spPr>
          <a:xfrm>
            <a:off x="322555" y="6067886"/>
            <a:ext cx="1154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End-to-end workflow: (1) FLAIR input normalization and augmentation, (2) ResNet-9 generator and </a:t>
            </a:r>
            <a:r>
              <a:rPr lang="en-US" dirty="0" err="1"/>
              <a:t>PatchGAN</a:t>
            </a:r>
            <a:r>
              <a:rPr lang="en-US" dirty="0"/>
              <a:t> discriminator for adversarial synthesis, (3) hyperparameter tuning, (4) Grad-CAM saliency maps for interpretability.</a:t>
            </a:r>
          </a:p>
        </p:txBody>
      </p:sp>
    </p:spTree>
    <p:extLst>
      <p:ext uri="{BB962C8B-B14F-4D97-AF65-F5344CB8AC3E}">
        <p14:creationId xmlns:p14="http://schemas.microsoft.com/office/powerpoint/2010/main" val="3467099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675249"/>
            <a:ext cx="11407806" cy="5716673"/>
          </a:xfrm>
        </p:spPr>
        <p:txBody>
          <a:bodyPr/>
          <a:lstStyle/>
          <a:p>
            <a:pPr algn="l"/>
            <a:r>
              <a:rPr lang="en-IN" sz="3000" dirty="0">
                <a:latin typeface="Comic Sans MS" panose="030F0902030302020204" pitchFamily="66" charset="0"/>
              </a:rPr>
              <a:t>5. LITERATURE REVIEW </a:t>
            </a:r>
          </a:p>
          <a:p>
            <a:pPr algn="l"/>
            <a:r>
              <a:rPr lang="en-US" b="1" dirty="0"/>
              <a:t>1. Image-to-Image Translation (GAN Foundations)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855357F-3E40-5DE9-4B97-24B1791B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3"/>
            <a:ext cx="10440140" cy="550408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B1D6F-0C90-4359-0429-23EF74E74F3D}"/>
              </a:ext>
            </a:extLst>
          </p:cNvPr>
          <p:cNvSpPr txBox="1"/>
          <p:nvPr/>
        </p:nvSpPr>
        <p:spPr>
          <a:xfrm>
            <a:off x="7293935" y="29239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370DFD4C-02AE-99DD-CB58-DB6847BBD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70" y="1444516"/>
            <a:ext cx="128351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2A0E02-6221-6B84-6996-508A25893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86571"/>
              </p:ext>
            </p:extLst>
          </p:nvPr>
        </p:nvGraphicFramePr>
        <p:xfrm>
          <a:off x="660070" y="1898698"/>
          <a:ext cx="10871860" cy="396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739">
                  <a:extLst>
                    <a:ext uri="{9D8B030D-6E8A-4147-A177-3AD203B41FA5}">
                      <a16:colId xmlns:a16="http://schemas.microsoft.com/office/drawing/2014/main" val="4095399328"/>
                    </a:ext>
                  </a:extLst>
                </a:gridCol>
                <a:gridCol w="1856936">
                  <a:extLst>
                    <a:ext uri="{9D8B030D-6E8A-4147-A177-3AD203B41FA5}">
                      <a16:colId xmlns:a16="http://schemas.microsoft.com/office/drawing/2014/main" val="2496134899"/>
                    </a:ext>
                  </a:extLst>
                </a:gridCol>
                <a:gridCol w="3924886">
                  <a:extLst>
                    <a:ext uri="{9D8B030D-6E8A-4147-A177-3AD203B41FA5}">
                      <a16:colId xmlns:a16="http://schemas.microsoft.com/office/drawing/2014/main" val="3041263001"/>
                    </a:ext>
                  </a:extLst>
                </a:gridCol>
                <a:gridCol w="2880299">
                  <a:extLst>
                    <a:ext uri="{9D8B030D-6E8A-4147-A177-3AD203B41FA5}">
                      <a16:colId xmlns:a16="http://schemas.microsoft.com/office/drawing/2014/main" val="1305791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Ref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Authors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Work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How it relates to our paper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07604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[Isola2017]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Isola et al. (2017)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</a:rPr>
                        <a:t>Pix2Pix</a:t>
                      </a:r>
                      <a:r>
                        <a:rPr lang="en-US" sz="1800" dirty="0">
                          <a:effectLst/>
                        </a:rPr>
                        <a:t> — Conditional adversarial networks for paired image-to-image translation (CVPR)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Our base framework; we replace U-Net generator with ResNet-9 and extend loss from 2 to 7 components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669549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[zhu2017unpaired]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Zhu et al. (2017)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effectLst/>
                        </a:rPr>
                        <a:t>CycleGAN</a:t>
                      </a:r>
                      <a:r>
                        <a:rPr lang="en-US" sz="1800" dirty="0">
                          <a:effectLst/>
                        </a:rPr>
                        <a:t> — Unpaired image translation using cycle consistency (ICCV)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Source of </a:t>
                      </a:r>
                      <a:r>
                        <a:rPr lang="en-US" sz="1800" dirty="0" err="1">
                          <a:effectLst/>
                        </a:rPr>
                        <a:t>ResNet</a:t>
                      </a:r>
                      <a:r>
                        <a:rPr lang="en-US" sz="1800" dirty="0">
                          <a:effectLst/>
                        </a:rPr>
                        <a:t> generator design; direct comparison baseline (SSIM: 0.798)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251224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[mao2017lsgan]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Mao et al. (2017)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LSGAN</a:t>
                      </a:r>
                      <a:r>
                        <a:rPr lang="en-US" sz="1800">
                          <a:effectLst/>
                        </a:rPr>
                        <a:t> — Least Squares GAN for stable training (ICCV)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Our adversarial objective — replaces BCE to avoid vanishing gradients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40351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[wang2018pix2pixHD]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Wang et al. (2018)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pix2pixHD</a:t>
                      </a:r>
                      <a:r>
                        <a:rPr lang="en-US" sz="1800">
                          <a:effectLst/>
                        </a:rPr>
                        <a:t> — High-resolution synthesis with conditional GANs (CVPR)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Source of our discriminator feature matching loss (</a:t>
                      </a:r>
                      <a:r>
                        <a:rPr lang="el-GR" sz="1800" dirty="0">
                          <a:effectLst/>
                        </a:rPr>
                        <a:t>λ=10)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089470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0290-61C5-1469-C07B-A01B3F1E8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E9F9CA-F2CF-B373-C95A-B45A298E9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US" b="1" dirty="0"/>
              <a:t>2. Architecture Foundations</a:t>
            </a:r>
          </a:p>
          <a:p>
            <a:pPr algn="l"/>
            <a:endParaRPr lang="en-US" b="1" dirty="0"/>
          </a:p>
          <a:p>
            <a:pPr algn="l"/>
            <a:endParaRPr lang="en-US" dirty="0"/>
          </a:p>
          <a:p>
            <a:br>
              <a:rPr lang="en-US" dirty="0"/>
            </a:br>
            <a:endParaRPr lang="en-US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r>
              <a:rPr lang="en-US" b="1" dirty="0"/>
              <a:t>3. Explainability (XAI)</a:t>
            </a:r>
          </a:p>
          <a:p>
            <a:pPr algn="l"/>
            <a:endParaRPr lang="en-US" b="1" dirty="0"/>
          </a:p>
          <a:p>
            <a:pPr algn="l"/>
            <a:endParaRPr lang="en-US" b="1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3F7BC9C-D55D-04D1-85A2-23399C98E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  <a:endParaRPr lang="en-IN" sz="3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78F55-7ADC-C57C-4A13-386E8C832E5F}"/>
              </a:ext>
            </a:extLst>
          </p:cNvPr>
          <p:cNvSpPr txBox="1"/>
          <p:nvPr/>
        </p:nvSpPr>
        <p:spPr>
          <a:xfrm>
            <a:off x="7293935" y="29239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002ACCB9-BB20-5AA6-BA91-19FD037B4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70" y="1444516"/>
            <a:ext cx="128351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B88481-DA3C-4E07-E7E9-81C130B19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874134"/>
              </p:ext>
            </p:extLst>
          </p:nvPr>
        </p:nvGraphicFramePr>
        <p:xfrm>
          <a:off x="829994" y="4500582"/>
          <a:ext cx="10719581" cy="1516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831">
                  <a:extLst>
                    <a:ext uri="{9D8B030D-6E8A-4147-A177-3AD203B41FA5}">
                      <a16:colId xmlns:a16="http://schemas.microsoft.com/office/drawing/2014/main" val="3532878623"/>
                    </a:ext>
                  </a:extLst>
                </a:gridCol>
                <a:gridCol w="2278966">
                  <a:extLst>
                    <a:ext uri="{9D8B030D-6E8A-4147-A177-3AD203B41FA5}">
                      <a16:colId xmlns:a16="http://schemas.microsoft.com/office/drawing/2014/main" val="494545128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910509481"/>
                    </a:ext>
                  </a:extLst>
                </a:gridCol>
                <a:gridCol w="2897944">
                  <a:extLst>
                    <a:ext uri="{9D8B030D-6E8A-4147-A177-3AD203B41FA5}">
                      <a16:colId xmlns:a16="http://schemas.microsoft.com/office/drawing/2014/main" val="1909116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Ref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Authors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Work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How it relates to our paper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58788454"/>
                  </a:ext>
                </a:extLst>
              </a:tr>
              <a:tr h="1166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[Selvaraju2017]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Selvaraju et al. (2017)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Grad-CAM</a:t>
                      </a:r>
                      <a:r>
                        <a:rPr lang="en-US">
                          <a:effectLst/>
                        </a:rPr>
                        <a:t> — Visual explanations via gradient-based localization (ICCV)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Core XAI method — applied to last generator conv layer for voxel-level saliency maps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62376755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EDE121-DF86-27AC-63A5-355096F17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369448"/>
              </p:ext>
            </p:extLst>
          </p:nvPr>
        </p:nvGraphicFramePr>
        <p:xfrm>
          <a:off x="829994" y="1354644"/>
          <a:ext cx="10701936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831">
                  <a:extLst>
                    <a:ext uri="{9D8B030D-6E8A-4147-A177-3AD203B41FA5}">
                      <a16:colId xmlns:a16="http://schemas.microsoft.com/office/drawing/2014/main" val="4123987654"/>
                    </a:ext>
                  </a:extLst>
                </a:gridCol>
                <a:gridCol w="2307101">
                  <a:extLst>
                    <a:ext uri="{9D8B030D-6E8A-4147-A177-3AD203B41FA5}">
                      <a16:colId xmlns:a16="http://schemas.microsoft.com/office/drawing/2014/main" val="3122344573"/>
                    </a:ext>
                  </a:extLst>
                </a:gridCol>
                <a:gridCol w="3263705">
                  <a:extLst>
                    <a:ext uri="{9D8B030D-6E8A-4147-A177-3AD203B41FA5}">
                      <a16:colId xmlns:a16="http://schemas.microsoft.com/office/drawing/2014/main" val="3860715223"/>
                    </a:ext>
                  </a:extLst>
                </a:gridCol>
                <a:gridCol w="2880299">
                  <a:extLst>
                    <a:ext uri="{9D8B030D-6E8A-4147-A177-3AD203B41FA5}">
                      <a16:colId xmlns:a16="http://schemas.microsoft.com/office/drawing/2014/main" val="582426710"/>
                    </a:ext>
                  </a:extLst>
                </a:gridCol>
              </a:tblGrid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Ref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Authors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Work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How it relates to our paper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500329050"/>
                  </a:ext>
                </a:extLst>
              </a:tr>
              <a:tr h="810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[Ronneberger2015]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Ronneberger et al. (2015)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>
                          <a:effectLst/>
                        </a:rPr>
                        <a:t>U-Net</a:t>
                      </a:r>
                      <a:r>
                        <a:rPr lang="en-US" sz="1700" dirty="0">
                          <a:effectLst/>
                        </a:rPr>
                        <a:t> — Convolutional networks for biomedical image segmentation (MICCAI)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effectLst/>
                        </a:rPr>
                        <a:t>Original Pix2Pix uses U-Net generator (54M params) — replaced by our ResNet-9 (11M params)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07895013"/>
                  </a:ext>
                </a:extLst>
              </a:tr>
              <a:tr h="622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[johnson2016perceptual]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Johnson et al. (2016)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effectLst/>
                        </a:rPr>
                        <a:t>Perceptual Losses</a:t>
                      </a:r>
                      <a:r>
                        <a:rPr lang="en-US" sz="1700">
                          <a:effectLst/>
                        </a:rPr>
                        <a:t> — Real-time style transfer and super-resolution (ECCV)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effectLst/>
                        </a:rPr>
                        <a:t>Source of our VGG19 perceptual loss (relu1_2, relu2_2, relu3_4; </a:t>
                      </a:r>
                      <a:r>
                        <a:rPr lang="el-GR" sz="1700" dirty="0">
                          <a:effectLst/>
                        </a:rPr>
                        <a:t>λ=10)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09026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43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A34B-4D24-ABFB-BC0F-52A5C81C1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FE74AC-0FEC-CD8D-C015-79CD9E723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US" b="1" dirty="0"/>
              <a:t>3. Explainability (XAI)</a:t>
            </a:r>
          </a:p>
          <a:p>
            <a:pPr algn="l"/>
            <a:endParaRPr lang="en-US" b="1" dirty="0"/>
          </a:p>
          <a:p>
            <a:pPr algn="l"/>
            <a:endParaRPr lang="en-US" dirty="0"/>
          </a:p>
          <a:p>
            <a:br>
              <a:rPr lang="en-US" dirty="0"/>
            </a:br>
            <a:endParaRPr lang="en-US" dirty="0"/>
          </a:p>
          <a:p>
            <a:pPr algn="l"/>
            <a:endParaRPr lang="en-US" b="1" dirty="0"/>
          </a:p>
          <a:p>
            <a:pPr algn="l"/>
            <a:r>
              <a:rPr lang="en-US" b="1" dirty="0"/>
              <a:t>4: Medical Imaging</a:t>
            </a:r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953618F-4EB3-0D87-95ED-31AF2AB7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  <a:endParaRPr lang="en-IN" sz="3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1DF01-1F6E-3B2C-7DE0-11334AE4DD34}"/>
              </a:ext>
            </a:extLst>
          </p:cNvPr>
          <p:cNvSpPr txBox="1"/>
          <p:nvPr/>
        </p:nvSpPr>
        <p:spPr>
          <a:xfrm>
            <a:off x="7293935" y="29239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3A7CE1B9-054B-1063-D24C-E38CDF892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70" y="1444516"/>
            <a:ext cx="128351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4BE9BB-5033-4F7C-DBC2-BAE53B6FF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39511"/>
              </p:ext>
            </p:extLst>
          </p:nvPr>
        </p:nvGraphicFramePr>
        <p:xfrm>
          <a:off x="660070" y="1327325"/>
          <a:ext cx="10871860" cy="17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610">
                  <a:extLst>
                    <a:ext uri="{9D8B030D-6E8A-4147-A177-3AD203B41FA5}">
                      <a16:colId xmlns:a16="http://schemas.microsoft.com/office/drawing/2014/main" val="1309087572"/>
                    </a:ext>
                  </a:extLst>
                </a:gridCol>
                <a:gridCol w="1871003">
                  <a:extLst>
                    <a:ext uri="{9D8B030D-6E8A-4147-A177-3AD203B41FA5}">
                      <a16:colId xmlns:a16="http://schemas.microsoft.com/office/drawing/2014/main" val="815484087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58412852"/>
                    </a:ext>
                  </a:extLst>
                </a:gridCol>
                <a:gridCol w="4540287">
                  <a:extLst>
                    <a:ext uri="{9D8B030D-6E8A-4147-A177-3AD203B41FA5}">
                      <a16:colId xmlns:a16="http://schemas.microsoft.com/office/drawing/2014/main" val="1548198966"/>
                    </a:ext>
                  </a:extLst>
                </a:gridCol>
              </a:tblGrid>
              <a:tr h="323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Ref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Authors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Work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How it relates to our paper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47428862"/>
                  </a:ext>
                </a:extLst>
              </a:tr>
              <a:tr h="704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[Emami2020]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Emami et al. (2020)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SPA-GAN</a:t>
                      </a:r>
                      <a:r>
                        <a:rPr lang="en-US" sz="1600" dirty="0">
                          <a:effectLst/>
                        </a:rPr>
                        <a:t> — Spatial attention GAN for image-to-image translation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Attention-based alternative — we use Grad-CAM for post-hoc, gradient-based interpretability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32144792"/>
                  </a:ext>
                </a:extLst>
              </a:tr>
              <a:tr h="704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[Gohel2021]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Gohel et al. (2021)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Explainable AI: current status and future directions</a:t>
                      </a:r>
                      <a:endParaRPr lang="en-US" sz="16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Clinical motivation — interpretability gap in deep learning is the problem we address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15450190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04E899-04EF-2E83-59D8-4B7D4A7AD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200914"/>
              </p:ext>
            </p:extLst>
          </p:nvPr>
        </p:nvGraphicFramePr>
        <p:xfrm>
          <a:off x="660070" y="4022395"/>
          <a:ext cx="10871860" cy="2486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693">
                  <a:extLst>
                    <a:ext uri="{9D8B030D-6E8A-4147-A177-3AD203B41FA5}">
                      <a16:colId xmlns:a16="http://schemas.microsoft.com/office/drawing/2014/main" val="747006599"/>
                    </a:ext>
                  </a:extLst>
                </a:gridCol>
                <a:gridCol w="2067951">
                  <a:extLst>
                    <a:ext uri="{9D8B030D-6E8A-4147-A177-3AD203B41FA5}">
                      <a16:colId xmlns:a16="http://schemas.microsoft.com/office/drawing/2014/main" val="3187896053"/>
                    </a:ext>
                  </a:extLst>
                </a:gridCol>
                <a:gridCol w="2686929">
                  <a:extLst>
                    <a:ext uri="{9D8B030D-6E8A-4147-A177-3AD203B41FA5}">
                      <a16:colId xmlns:a16="http://schemas.microsoft.com/office/drawing/2014/main" val="2761679103"/>
                    </a:ext>
                  </a:extLst>
                </a:gridCol>
                <a:gridCol w="4540287">
                  <a:extLst>
                    <a:ext uri="{9D8B030D-6E8A-4147-A177-3AD203B41FA5}">
                      <a16:colId xmlns:a16="http://schemas.microsoft.com/office/drawing/2014/main" val="337055228"/>
                    </a:ext>
                  </a:extLst>
                </a:gridCol>
              </a:tblGrid>
              <a:tr h="399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Ref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Authors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Work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How it relates to our paper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79763793"/>
                  </a:ext>
                </a:extLst>
              </a:tr>
              <a:tr h="607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[Armanious2020]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Armanious et al. (2020)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>
                          <a:effectLst/>
                        </a:rPr>
                        <a:t>MedGAN</a:t>
                      </a:r>
                      <a:r>
                        <a:rPr lang="en-US" sz="1600" dirty="0">
                          <a:effectLst/>
                        </a:rPr>
                        <a:t> — Medical image translation using GANs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Prior clinical GAN synthesis work; establishes the cross-modal translation problem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50442618"/>
                  </a:ext>
                </a:extLst>
              </a:tr>
              <a:tr h="607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[Litjens2017]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Litjens et al. (2017)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Survey on deep learning in medical image analysis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Contextualizes clinical deployment need; used in our evaluation metric justification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453221209"/>
                  </a:ext>
                </a:extLst>
              </a:tr>
              <a:tr h="87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[Meng2024]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Meng et al. (2024)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Multi-modal modality-masked diffusion network for brain MRI synthesis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Recent diffusion-based MRI synthesis — we achieve competitive SSIM with a lighter, interpretable GAN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170597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662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IN" sz="3000" b="1" dirty="0">
                <a:latin typeface="Comic Sans MS" panose="030F0702030302020204" pitchFamily="66" charset="0"/>
              </a:rPr>
              <a:t>6. RESEARCH GAPS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811AC90-65DD-C8A9-A811-5855AC55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  <a:endParaRPr lang="en-IN" sz="3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F440C5-B190-43B7-C318-A2E1D6161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581729"/>
              </p:ext>
            </p:extLst>
          </p:nvPr>
        </p:nvGraphicFramePr>
        <p:xfrm>
          <a:off x="461639" y="1533292"/>
          <a:ext cx="11268721" cy="4994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381">
                  <a:extLst>
                    <a:ext uri="{9D8B030D-6E8A-4147-A177-3AD203B41FA5}">
                      <a16:colId xmlns:a16="http://schemas.microsoft.com/office/drawing/2014/main" val="1487985873"/>
                    </a:ext>
                  </a:extLst>
                </a:gridCol>
                <a:gridCol w="2884993">
                  <a:extLst>
                    <a:ext uri="{9D8B030D-6E8A-4147-A177-3AD203B41FA5}">
                      <a16:colId xmlns:a16="http://schemas.microsoft.com/office/drawing/2014/main" val="706395833"/>
                    </a:ext>
                  </a:extLst>
                </a:gridCol>
                <a:gridCol w="3871965">
                  <a:extLst>
                    <a:ext uri="{9D8B030D-6E8A-4147-A177-3AD203B41FA5}">
                      <a16:colId xmlns:a16="http://schemas.microsoft.com/office/drawing/2014/main" val="1815347049"/>
                    </a:ext>
                  </a:extLst>
                </a:gridCol>
                <a:gridCol w="3892382">
                  <a:extLst>
                    <a:ext uri="{9D8B030D-6E8A-4147-A177-3AD203B41FA5}">
                      <a16:colId xmlns:a16="http://schemas.microsoft.com/office/drawing/2014/main" val="4104203759"/>
                    </a:ext>
                  </a:extLst>
                </a:gridCol>
              </a:tblGrid>
              <a:tr h="41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#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Research Gap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Evidence from Existing Work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How We Address It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11996272"/>
                  </a:ext>
                </a:extLst>
              </a:tr>
              <a:tr h="1707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effectLst/>
                        </a:rPr>
                        <a:t>No interpretability in medical image synthesis GANs</a:t>
                      </a:r>
                      <a:endParaRPr lang="en-US" sz="17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effectLst/>
                        </a:rPr>
                        <a:t>CycleGAN</a:t>
                      </a:r>
                      <a:r>
                        <a:rPr lang="en-US" sz="1700" dirty="0">
                          <a:effectLst/>
                        </a:rPr>
                        <a:t>, Attention-GAN, and Pix2Pix offer zero interpretability — they are black boxes; a clinician cannot know </a:t>
                      </a:r>
                      <a:r>
                        <a:rPr lang="en-US" sz="1700" i="1" dirty="0">
                          <a:effectLst/>
                        </a:rPr>
                        <a:t>why</a:t>
                      </a:r>
                      <a:r>
                        <a:rPr lang="en-US" sz="1700" dirty="0">
                          <a:effectLst/>
                        </a:rPr>
                        <a:t> a pixel was </a:t>
                      </a:r>
                      <a:r>
                        <a:rPr lang="en-US" sz="1700" dirty="0" err="1">
                          <a:effectLst/>
                        </a:rPr>
                        <a:t>synthesised</a:t>
                      </a:r>
                      <a:r>
                        <a:rPr lang="en-US" sz="1700" dirty="0">
                          <a:effectLst/>
                        </a:rPr>
                        <a:t> that way, which blocks clinical adoption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We embed Grad-CAM on the final generator conv layer — every synthesised T1 slice comes with a voxel-level saliency map showing exactly which FLAIR regions drove the output, quantified with entropy and spatial variance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23360901"/>
                  </a:ext>
                </a:extLst>
              </a:tr>
              <a:tr h="1166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effectLst/>
                        </a:rPr>
                        <a:t>Existing architectures are too parameter-heavy for clinical deployment</a:t>
                      </a:r>
                      <a:endParaRPr lang="en-US" sz="17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Standard Pix2Pix uses a U-Net generator with 54M parameters — that is impractical for resource-constrained clinical environments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We use a ResNet-9 generator with 11M parameters — 4.8× lighter — yet we </a:t>
                      </a:r>
                      <a:r>
                        <a:rPr lang="en-US" sz="1700" i="1">
                          <a:effectLst/>
                        </a:rPr>
                        <a:t>outperform</a:t>
                      </a:r>
                      <a:r>
                        <a:rPr lang="en-US" sz="1700">
                          <a:effectLst/>
                        </a:rPr>
                        <a:t> Pix2Pix in SSIM (0.894 vs 0.885)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816725240"/>
                  </a:ext>
                </a:extLst>
              </a:tr>
              <a:tr h="1707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effectLst/>
                        </a:rPr>
                        <a:t>Basic loss functions produce blurry, anatomically inaccurate outputs</a:t>
                      </a:r>
                      <a:endParaRPr lang="en-US" sz="17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effectLst/>
                        </a:rPr>
                        <a:t>The standard Pix2Pix objective (L1 + adversarial) achieves only SSIM 0.807; </a:t>
                      </a:r>
                      <a:r>
                        <a:rPr lang="en-US" sz="1700" dirty="0" err="1">
                          <a:effectLst/>
                        </a:rPr>
                        <a:t>CycleGAN</a:t>
                      </a:r>
                      <a:r>
                        <a:rPr lang="en-US" sz="1700" dirty="0">
                          <a:effectLst/>
                        </a:rPr>
                        <a:t> with cycle-consistency only reaches 0.798 — neither enforces perceptual structure or anatomical accuracy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effectLst/>
                        </a:rPr>
                        <a:t>We extend to a 7-component compound loss including VGG perceptual, MS-SSIM, discriminator feature matching, edge-aware, and local contrast terms → SSIM </a:t>
                      </a:r>
                      <a:r>
                        <a:rPr lang="en-US" sz="1700" b="1" dirty="0">
                          <a:effectLst/>
                        </a:rPr>
                        <a:t>0.8936</a:t>
                      </a:r>
                      <a:r>
                        <a:rPr lang="en-US" sz="1700" dirty="0">
                          <a:effectLst/>
                        </a:rPr>
                        <a:t> (+10.7%)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140003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2350-A02E-79C0-DD6F-37D65118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E3797F-986B-7662-75F1-290365C18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IN" sz="3000" b="1" dirty="0">
                <a:latin typeface="Comic Sans MS" panose="030F0702030302020204" pitchFamily="66" charset="0"/>
              </a:rPr>
              <a:t>6. RESEARCH GAPS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FF273D8-3AAF-15D8-EED3-A0F3FCB0C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842C7E-4D0C-0C99-06B6-C962AF5D5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880237"/>
              </p:ext>
            </p:extLst>
          </p:nvPr>
        </p:nvGraphicFramePr>
        <p:xfrm>
          <a:off x="461639" y="1519224"/>
          <a:ext cx="11268722" cy="4905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645">
                  <a:extLst>
                    <a:ext uri="{9D8B030D-6E8A-4147-A177-3AD203B41FA5}">
                      <a16:colId xmlns:a16="http://schemas.microsoft.com/office/drawing/2014/main" val="1737604611"/>
                    </a:ext>
                  </a:extLst>
                </a:gridCol>
                <a:gridCol w="2232074">
                  <a:extLst>
                    <a:ext uri="{9D8B030D-6E8A-4147-A177-3AD203B41FA5}">
                      <a16:colId xmlns:a16="http://schemas.microsoft.com/office/drawing/2014/main" val="3315483753"/>
                    </a:ext>
                  </a:extLst>
                </a:gridCol>
                <a:gridCol w="4433779">
                  <a:extLst>
                    <a:ext uri="{9D8B030D-6E8A-4147-A177-3AD203B41FA5}">
                      <a16:colId xmlns:a16="http://schemas.microsoft.com/office/drawing/2014/main" val="1697213604"/>
                    </a:ext>
                  </a:extLst>
                </a:gridCol>
                <a:gridCol w="4044224">
                  <a:extLst>
                    <a:ext uri="{9D8B030D-6E8A-4147-A177-3AD203B41FA5}">
                      <a16:colId xmlns:a16="http://schemas.microsoft.com/office/drawing/2014/main" val="1477400371"/>
                    </a:ext>
                  </a:extLst>
                </a:gridCol>
              </a:tblGrid>
              <a:tr h="604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#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Research Gap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Evidence from Existing Work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How We Address It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878302989"/>
                  </a:ext>
                </a:extLst>
              </a:tr>
              <a:tr h="2387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</a:rPr>
                        <a:t>No explicit boundary preservation in synthesis</a:t>
                      </a:r>
                      <a:endParaRPr lang="en-US" sz="18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Standard pixel-wise losses (L1, MSE) have no gradient penalty — they treat all pixels equally, which causes blurred tissue interfaces and loss of white/gray matter boundaries that clinicians rely 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We introduce an edge-aware loss combining Sobel gradients and Laplacian operators at two scales — it carries the </a:t>
                      </a:r>
                      <a:r>
                        <a:rPr lang="en-US" sz="1800" b="1" dirty="0">
                          <a:effectLst/>
                        </a:rPr>
                        <a:t>highest weight of all 7 components (</a:t>
                      </a:r>
                      <a:r>
                        <a:rPr lang="el-GR" sz="1800" b="1" dirty="0">
                          <a:effectLst/>
                        </a:rPr>
                        <a:t>λ₅ = 20)</a:t>
                      </a:r>
                      <a:r>
                        <a:rPr lang="el-GR" sz="1800" dirty="0">
                          <a:effectLst/>
                        </a:rPr>
                        <a:t> — </a:t>
                      </a:r>
                      <a:r>
                        <a:rPr lang="en-US" sz="1800" dirty="0">
                          <a:effectLst/>
                        </a:rPr>
                        <a:t>plus a local contrast loss matching 9×9 neighborhood texture for deep gray matter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50892770"/>
                  </a:ext>
                </a:extLst>
              </a:tr>
              <a:tr h="1912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</a:rPr>
                        <a:t>No external validation or statistical confidence reporting</a:t>
                      </a:r>
                      <a:endParaRPr lang="en-US" sz="18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Existing synthesis methods report metrics on a single dataset with no confidence intervals — we cannot know if the model </a:t>
                      </a:r>
                      <a:r>
                        <a:rPr lang="en-US" sz="1800" dirty="0" err="1">
                          <a:effectLst/>
                        </a:rPr>
                        <a:t>generalises</a:t>
                      </a:r>
                      <a:r>
                        <a:rPr lang="en-US" sz="1800" dirty="0">
                          <a:effectLst/>
                        </a:rPr>
                        <a:t> to different scanners or acquisition protocols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We validate on an independent </a:t>
                      </a:r>
                      <a:r>
                        <a:rPr lang="en-US" sz="1800" dirty="0" err="1">
                          <a:effectLst/>
                        </a:rPr>
                        <a:t>BraTS</a:t>
                      </a:r>
                      <a:r>
                        <a:rPr lang="en-US" sz="1800" dirty="0">
                          <a:effectLst/>
                        </a:rPr>
                        <a:t> 2023 GLI dataset (219 subjects the model never saw), with bootstrap 95% CIs on every metric — SSIM 0.8940 [0.887, 0.900]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833561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262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IN" b="1" dirty="0">
                <a:latin typeface="Comic Sans MS" panose="030F0702030302020204" pitchFamily="66" charset="0"/>
              </a:rPr>
              <a:t>7. PROPOSED METHODOLOGY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75C8FC5-C641-8455-841D-48567CB3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101671-0FCD-7758-B653-D6C6115C7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80" y="1361488"/>
            <a:ext cx="11268723" cy="543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F642-74EB-9A3C-CA67-A3807CEB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6694CC-B5DB-A031-0820-FC61CEE5C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IN" b="1" dirty="0">
                <a:latin typeface="Comic Sans MS" panose="030F0702030302020204" pitchFamily="66" charset="0"/>
              </a:rPr>
              <a:t>8. RESULTS &amp; DISCUSSION</a:t>
            </a:r>
          </a:p>
          <a:p>
            <a:pPr algn="l"/>
            <a:r>
              <a:rPr lang="en-US" b="1" dirty="0"/>
              <a:t>Quantitative Performance (Proposed Method)</a:t>
            </a:r>
          </a:p>
          <a:p>
            <a:br>
              <a:rPr lang="en-US" dirty="0"/>
            </a:br>
            <a:endParaRPr lang="en-US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US" b="1" dirty="0"/>
              <a:t>Discussion:</a:t>
            </a:r>
            <a:r>
              <a:rPr lang="en-US" dirty="0"/>
              <a:t> Near-identical SSIM (0.8936 vs 0.8940) across two independent datasets confirms strong generalization. Bootstrap CIs are tight, indicating low variance across subjects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AE3F2A-B7CC-63B9-60E4-379A523A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A97F15-3CA7-948B-3AD3-A5C185848AE9}"/>
              </a:ext>
            </a:extLst>
          </p:cNvPr>
          <p:cNvGraphicFramePr>
            <a:graphicFrameLocks noGrp="1"/>
          </p:cNvGraphicFramePr>
          <p:nvPr/>
        </p:nvGraphicFramePr>
        <p:xfrm>
          <a:off x="2101542" y="1779810"/>
          <a:ext cx="8128000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7840099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725546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220265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392208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42512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Metric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BraTS 2021 (n=251)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95% CI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BraTS 2023 (n=219)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95% CI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5471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PSNR (dB)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24.33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[23.94, 24.74]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24.57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[24.11, 24.98]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88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SSIM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0.8936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[0.8928, 0.8946]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0.8940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[0.8871, 0.9003]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344685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MAE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0.0302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[0.0287, 0.0316]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0.0288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534081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RMSE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0.0719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[0.0678, 0.0760]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0.0670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69710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Precision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0.9950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0.9949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355618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Recall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0.9939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0.9960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52629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F1 Score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0.9945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0.9955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5479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908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600688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3100" b="1" dirty="0">
                <a:latin typeface="Comic Sans MS" panose="030F0702030302020204" pitchFamily="66" charset="0"/>
              </a:rPr>
              <a:t>8. RESULTS &amp; DISCUSSION</a:t>
            </a:r>
          </a:p>
          <a:p>
            <a:pPr algn="l"/>
            <a:r>
              <a:rPr lang="en-US" sz="3100" b="1" dirty="0"/>
              <a:t>Visual Inspection</a:t>
            </a:r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br>
              <a:rPr lang="en-US" dirty="0"/>
            </a:br>
            <a:endParaRPr lang="en-US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sz="1800" dirty="0">
              <a:latin typeface="Comic Sans MS" panose="030F0702030302020204" pitchFamily="66" charset="0"/>
            </a:endParaRPr>
          </a:p>
          <a:p>
            <a:pPr algn="l"/>
            <a:endParaRPr lang="en-IN" sz="1800" dirty="0">
              <a:latin typeface="Comic Sans MS" panose="030F0702030302020204" pitchFamily="66" charset="0"/>
            </a:endParaRPr>
          </a:p>
          <a:p>
            <a:pPr algn="l"/>
            <a:r>
              <a:rPr lang="en-US" sz="2600" b="1" dirty="0"/>
              <a:t>FLAIR→T1 synthesis:</a:t>
            </a:r>
          </a:p>
          <a:p>
            <a:pPr marL="457200" indent="-457200" algn="l">
              <a:buFont typeface="+mj-lt"/>
              <a:buAutoNum type="arabicParenR"/>
            </a:pPr>
            <a:r>
              <a:rPr lang="en-US" sz="2300" dirty="0"/>
              <a:t>FLAIR input with hyperintense lesion and suppressed ventricles</a:t>
            </a:r>
          </a:p>
          <a:p>
            <a:pPr marL="457200" indent="-457200" algn="l">
              <a:buFont typeface="+mj-lt"/>
              <a:buAutoNum type="arabicParenR"/>
            </a:pPr>
            <a:r>
              <a:rPr lang="en-US" sz="2300" dirty="0"/>
              <a:t>Ground truth T1 showing clear gray-white matter contrast</a:t>
            </a:r>
          </a:p>
          <a:p>
            <a:pPr marL="457200" indent="-457200" algn="l">
              <a:buFont typeface="+mj-lt"/>
              <a:buAutoNum type="arabicParenR"/>
            </a:pPr>
            <a:r>
              <a:rPr lang="en-US" sz="2300" dirty="0" err="1"/>
              <a:t>Synthesised</a:t>
            </a:r>
            <a:r>
              <a:rPr lang="en-US" sz="2300" dirty="0"/>
              <a:t> T1 — closely recovering tissue boundaries and ventricular structure.</a:t>
            </a:r>
          </a:p>
          <a:p>
            <a:pPr marL="457200" indent="-457200" algn="l">
              <a:buFont typeface="+mj-lt"/>
              <a:buAutoNum type="arabicParenR"/>
            </a:pPr>
            <a:r>
              <a:rPr lang="en-US" sz="2300" dirty="0"/>
              <a:t>Grad-CAM saliency — red activation at ventricle walls and cortical edges, the model's highest-influence regions</a:t>
            </a:r>
          </a:p>
          <a:p>
            <a:pPr marL="457200" indent="-457200" algn="l">
              <a:buFont typeface="+mj-lt"/>
              <a:buAutoNum type="arabicParenR"/>
            </a:pPr>
            <a:r>
              <a:rPr lang="en-US" sz="2300" dirty="0"/>
              <a:t>Attention overlay — saliency blended onto the output, confirming anatomically focused, interpretable synthesis.</a:t>
            </a:r>
            <a:endParaRPr lang="en-IN" sz="2300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E509480-092F-C4B4-A309-F17A995DE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pic>
        <p:nvPicPr>
          <p:cNvPr id="6" name="Picture 5" descr="A close-up of a brain&#10;&#10;AI-generated content may be incorrect.">
            <a:extLst>
              <a:ext uri="{FF2B5EF4-FFF2-40B4-BE49-F238E27FC236}">
                <a16:creationId xmlns:a16="http://schemas.microsoft.com/office/drawing/2014/main" id="{BD27B5E4-882A-5E6C-F7F9-FD1D09E75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17" y="1619794"/>
            <a:ext cx="11938566" cy="291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6526-C173-47FA-A073-3EC61990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B9F49A-92B7-3C69-3F22-1C2B2C90F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IN" b="1" dirty="0">
                <a:latin typeface="Comic Sans MS" panose="030F0702030302020204" pitchFamily="66" charset="0"/>
              </a:rPr>
              <a:t>8. RESULTS &amp; DISCUSSION</a:t>
            </a:r>
          </a:p>
          <a:p>
            <a:pPr algn="l"/>
            <a:r>
              <a:rPr lang="en-US" b="1" dirty="0"/>
              <a:t>Comparative Study (All Trained on </a:t>
            </a:r>
            <a:r>
              <a:rPr lang="en-US" b="1" dirty="0" err="1"/>
              <a:t>BraTS</a:t>
            </a:r>
            <a:r>
              <a:rPr lang="en-US" b="1" dirty="0"/>
              <a:t> 2021)</a:t>
            </a:r>
          </a:p>
          <a:p>
            <a:br>
              <a:rPr lang="en-US" dirty="0"/>
            </a:br>
            <a:endParaRPr lang="en-US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US" b="1" dirty="0"/>
              <a:t>Discussion:</a:t>
            </a:r>
            <a:r>
              <a:rPr lang="en-US" dirty="0"/>
              <a:t> Our model achieves the best SSIM and lowest MAE while using </a:t>
            </a:r>
            <a:r>
              <a:rPr lang="en-US" b="1" dirty="0"/>
              <a:t>5× fewer parameters</a:t>
            </a:r>
            <a:r>
              <a:rPr lang="en-US" dirty="0"/>
              <a:t> than standard Pix2Pix (11M vs 54M) and being the </a:t>
            </a:r>
            <a:r>
              <a:rPr lang="en-US" b="1" dirty="0"/>
              <a:t>only method with built-in interpretability</a:t>
            </a:r>
            <a:r>
              <a:rPr lang="en-US" dirty="0"/>
              <a:t>.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5F1D465-56CB-B174-44B7-BF1380F45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C68033-82DE-952E-7D0D-3C1EF7EFF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847001"/>
              </p:ext>
            </p:extLst>
          </p:nvPr>
        </p:nvGraphicFramePr>
        <p:xfrm>
          <a:off x="555409" y="1764694"/>
          <a:ext cx="11220265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95">
                  <a:extLst>
                    <a:ext uri="{9D8B030D-6E8A-4147-A177-3AD203B41FA5}">
                      <a16:colId xmlns:a16="http://schemas.microsoft.com/office/drawing/2014/main" val="941859145"/>
                    </a:ext>
                  </a:extLst>
                </a:gridCol>
                <a:gridCol w="1602895">
                  <a:extLst>
                    <a:ext uri="{9D8B030D-6E8A-4147-A177-3AD203B41FA5}">
                      <a16:colId xmlns:a16="http://schemas.microsoft.com/office/drawing/2014/main" val="3764842109"/>
                    </a:ext>
                  </a:extLst>
                </a:gridCol>
                <a:gridCol w="1602895">
                  <a:extLst>
                    <a:ext uri="{9D8B030D-6E8A-4147-A177-3AD203B41FA5}">
                      <a16:colId xmlns:a16="http://schemas.microsoft.com/office/drawing/2014/main" val="981096344"/>
                    </a:ext>
                  </a:extLst>
                </a:gridCol>
                <a:gridCol w="1602895">
                  <a:extLst>
                    <a:ext uri="{9D8B030D-6E8A-4147-A177-3AD203B41FA5}">
                      <a16:colId xmlns:a16="http://schemas.microsoft.com/office/drawing/2014/main" val="2571165564"/>
                    </a:ext>
                  </a:extLst>
                </a:gridCol>
                <a:gridCol w="1602895">
                  <a:extLst>
                    <a:ext uri="{9D8B030D-6E8A-4147-A177-3AD203B41FA5}">
                      <a16:colId xmlns:a16="http://schemas.microsoft.com/office/drawing/2014/main" val="2712290967"/>
                    </a:ext>
                  </a:extLst>
                </a:gridCol>
                <a:gridCol w="1602895">
                  <a:extLst>
                    <a:ext uri="{9D8B030D-6E8A-4147-A177-3AD203B41FA5}">
                      <a16:colId xmlns:a16="http://schemas.microsoft.com/office/drawing/2014/main" val="3922515900"/>
                    </a:ext>
                  </a:extLst>
                </a:gridCol>
                <a:gridCol w="1602895">
                  <a:extLst>
                    <a:ext uri="{9D8B030D-6E8A-4147-A177-3AD203B41FA5}">
                      <a16:colId xmlns:a16="http://schemas.microsoft.com/office/drawing/2014/main" val="939401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Method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Generator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Params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XAI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SSIM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SSIM </a:t>
                      </a:r>
                      <a:r>
                        <a:rPr lang="el-GR">
                          <a:effectLst/>
                        </a:rPr>
                        <a:t>Δ </a:t>
                      </a:r>
                      <a:r>
                        <a:rPr lang="en-US">
                          <a:effectLst/>
                        </a:rPr>
                        <a:t>vs Ours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50075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CycleGAN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ResNet + PatchGAN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~28M (2 G + 2 D)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0.798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0.042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−12%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84162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AttentionGAN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Attention-guided + PatchGAN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~29M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0.795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0.043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−12.4%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87877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Pix2Pix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U-Net (54M) + PatchGAN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~57M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None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0.885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0.031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−1%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2349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Proposed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ResNet-9 (11M) + PatchGAN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~14M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Grad-CAM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0.894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0.030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—</a:t>
                      </a:r>
                      <a:endParaRPr lang="en-US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49164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959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10521-3A47-496F-1BE1-987C0A6FF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9E72EF-3D0E-9A7A-9CFF-8FAA56BEE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IN" b="1" dirty="0">
                <a:latin typeface="Comic Sans MS" panose="030F0702030302020204" pitchFamily="66" charset="0"/>
              </a:rPr>
              <a:t>8. RESULTS &amp; DISCUSSION</a:t>
            </a:r>
          </a:p>
          <a:p>
            <a:pPr algn="l"/>
            <a:r>
              <a:rPr lang="en-US" b="1" dirty="0"/>
              <a:t>Confusion Matrix (Pixel-Level Tissue Classification)</a:t>
            </a:r>
          </a:p>
          <a:p>
            <a:br>
              <a:rPr lang="en-US" dirty="0"/>
            </a:br>
            <a:endParaRPr lang="en-US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US" b="1" dirty="0"/>
              <a:t>Discussion:</a:t>
            </a:r>
            <a:r>
              <a:rPr lang="en-US" dirty="0"/>
              <a:t> Strong diagonal dominance — 99.5% precision, 99.4% recall. Only ~165K misclassified pixels out of ~49M total, confirming the model preserves both healthy and lesion tissue composition faithfully.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E19DAEF-A08C-C787-10C6-01B5EBD0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EE4D1-5661-35DE-B755-D70A6C707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219" y="1681682"/>
            <a:ext cx="4193562" cy="349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13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F18B-D672-AA85-86CA-5640AB1B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C9D6E-6960-EB0D-ECD6-016A1A9D1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60678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sz="2800" b="1" dirty="0">
                <a:latin typeface="Comic Sans MS" panose="030F0702030302020204" pitchFamily="66" charset="0"/>
              </a:rPr>
              <a:t>8. RESULTS &amp; DISCUSSION</a:t>
            </a:r>
          </a:p>
          <a:p>
            <a:pPr algn="l"/>
            <a:r>
              <a:rPr lang="en-US" sz="2800" b="1" dirty="0"/>
              <a:t>GAN Training Dynamics </a:t>
            </a:r>
            <a:br>
              <a:rPr lang="en-US" dirty="0"/>
            </a:br>
            <a:endParaRPr lang="en-US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b="1" dirty="0">
              <a:latin typeface="Comic Sans MS" panose="030F0702030302020204" pitchFamily="66" charset="0"/>
            </a:endParaRPr>
          </a:p>
          <a:p>
            <a:pPr algn="l"/>
            <a:endParaRPr lang="en-IN" b="1" dirty="0">
              <a:latin typeface="Comic Sans MS" panose="030F0702030302020204" pitchFamily="66" charset="0"/>
            </a:endParaRPr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r>
              <a:rPr lang="en-US" b="1" dirty="0"/>
              <a:t>Discussion:</a:t>
            </a:r>
            <a:r>
              <a:rPr lang="en-US" dirty="0"/>
              <a:t> Generator loss drops sharply from 0.70 to ~0.32 within the first 5 epochs and </a:t>
            </a:r>
            <a:r>
              <a:rPr lang="en-US" dirty="0" err="1"/>
              <a:t>stabilises</a:t>
            </a:r>
            <a:r>
              <a:rPr lang="en-US" dirty="0"/>
              <a:t> — confirming rapid FLAIR→T1 mapping convergence. Both discriminator losses oscillate around 0.50 throughout all 100 epochs, the hallmark of LSGAN adversarial equilibrium — the discriminator is genuinely uncertain between real and </a:t>
            </a:r>
            <a:r>
              <a:rPr lang="en-US" dirty="0" err="1"/>
              <a:t>synthesised</a:t>
            </a:r>
            <a:r>
              <a:rPr lang="en-US" dirty="0"/>
              <a:t> pairs, with no mode collapse or divergence observed.</a:t>
            </a:r>
            <a:br>
              <a:rPr lang="en-US" dirty="0"/>
            </a:b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8BE7688-C93C-2F58-6DC1-3CC9561C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FA738D-80D7-18BE-B749-906377EC6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013" y="1519224"/>
            <a:ext cx="6593973" cy="383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66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296C7-9286-A274-180C-25A2FB1C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502C7EF-8967-57F8-2BE9-D28C8D7AF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b="1" dirty="0">
                <a:latin typeface="Comic Sans MS" panose="030F0702030302020204" pitchFamily="66" charset="0"/>
              </a:rPr>
              <a:t>8. RESULTS &amp; DISCUSSION</a:t>
            </a:r>
          </a:p>
          <a:p>
            <a:pPr algn="l"/>
            <a:r>
              <a:rPr lang="en-US" b="1" dirty="0"/>
              <a:t>Grad-CAM Interpretability Metrics (n=20 samples)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r>
              <a:rPr lang="en-US" b="1" dirty="0"/>
              <a:t>Discussion:</a:t>
            </a:r>
            <a:r>
              <a:rPr lang="en-US" dirty="0"/>
              <a:t> High entropy + low activation ratio = the model attends broadly but acts selectively. The 9.8% high-activation ratio means it identifies specific anatomical structures (not just spreading uniformly), making Grad-CAM maps clinically meaningful for radiologists.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3E03D7D-882E-8488-B91B-DAE56D30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61002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992D3C-64FF-5784-329D-5914AA841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399975"/>
              </p:ext>
            </p:extLst>
          </p:nvPr>
        </p:nvGraphicFramePr>
        <p:xfrm>
          <a:off x="1652856" y="1808480"/>
          <a:ext cx="9025371" cy="324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8457">
                  <a:extLst>
                    <a:ext uri="{9D8B030D-6E8A-4147-A177-3AD203B41FA5}">
                      <a16:colId xmlns:a16="http://schemas.microsoft.com/office/drawing/2014/main" val="2692475251"/>
                    </a:ext>
                  </a:extLst>
                </a:gridCol>
                <a:gridCol w="3008457">
                  <a:extLst>
                    <a:ext uri="{9D8B030D-6E8A-4147-A177-3AD203B41FA5}">
                      <a16:colId xmlns:a16="http://schemas.microsoft.com/office/drawing/2014/main" val="3013222652"/>
                    </a:ext>
                  </a:extLst>
                </a:gridCol>
                <a:gridCol w="3008457">
                  <a:extLst>
                    <a:ext uri="{9D8B030D-6E8A-4147-A177-3AD203B41FA5}">
                      <a16:colId xmlns:a16="http://schemas.microsoft.com/office/drawing/2014/main" val="4292539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Metric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Mean ± Std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What It Tells You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182289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Entropy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11.25 ± 0.04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Attention is </a:t>
                      </a:r>
                      <a:r>
                        <a:rPr lang="en-US" sz="1600" b="1" dirty="0">
                          <a:effectLst/>
                        </a:rPr>
                        <a:t>distributed</a:t>
                      </a:r>
                      <a:r>
                        <a:rPr lang="en-US" sz="1600" dirty="0">
                          <a:effectLst/>
                        </a:rPr>
                        <a:t> (not fixated on one spot)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01282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Spatial Variance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0.086 ± 0.007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Activation varies across regions (anatomically selective)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16250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High Activation Ratio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9.8% ± 2.1%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Only ~10% of voxels are heavily used — model is </a:t>
                      </a:r>
                      <a:r>
                        <a:rPr lang="en-US" sz="1600" b="1">
                          <a:effectLst/>
                        </a:rPr>
                        <a:t>focused</a:t>
                      </a:r>
                      <a:endParaRPr lang="en-US" sz="160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11786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Error Correlation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0.34 ± 0.03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Moderate link between high-attention areas and synthesis errors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53236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Peak Activation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1.00 ± 0.00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Full dynamic range utilized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602756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49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3200" b="1" dirty="0">
                <a:latin typeface="Comic Sans MS" panose="030F0702030302020204" pitchFamily="66" charset="0"/>
              </a:rPr>
              <a:t>9. CONCLUSION &amp; FUTURE WORK </a:t>
            </a:r>
          </a:p>
          <a:p>
            <a:pPr algn="l"/>
            <a:endParaRPr lang="en-US" sz="2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/>
              <a:t>Interpretable ResNet-9 Pix2Pix GAN for FLAIR→T1 synthesis with Grad-CAM voxel-level saliency maps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/>
              <a:t>7-component compound loss achieves </a:t>
            </a:r>
            <a:r>
              <a:rPr lang="en-US" sz="2600" b="1" dirty="0"/>
              <a:t>SSIM = 0.8936, PSNR = 24.33 dB</a:t>
            </a:r>
            <a:r>
              <a:rPr lang="en-US" sz="2600" dirty="0"/>
              <a:t> on </a:t>
            </a:r>
            <a:r>
              <a:rPr lang="en-US" sz="2600" dirty="0" err="1"/>
              <a:t>BraTS</a:t>
            </a:r>
            <a:r>
              <a:rPr lang="en-US" sz="2600" dirty="0"/>
              <a:t> 2021 (600 epochs, 4.11 </a:t>
            </a:r>
            <a:r>
              <a:rPr lang="en-US" sz="2600" dirty="0" err="1"/>
              <a:t>hrs</a:t>
            </a:r>
            <a:r>
              <a:rPr lang="en-US" sz="2600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b="1" dirty="0"/>
              <a:t>+12% SSIM, +29% MAE improvement over </a:t>
            </a:r>
            <a:r>
              <a:rPr lang="en-US" sz="2600" b="1" dirty="0" err="1"/>
              <a:t>CycleGAN</a:t>
            </a:r>
            <a:r>
              <a:rPr lang="en-US" sz="2600" dirty="0"/>
              <a:t>; matches Pix2Pix with </a:t>
            </a:r>
            <a:r>
              <a:rPr lang="en-US" sz="2600" b="1" dirty="0"/>
              <a:t>5× fewer parameters</a:t>
            </a:r>
            <a:r>
              <a:rPr lang="en-US" sz="2600" dirty="0"/>
              <a:t> (11M vs 54M)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/>
              <a:t>Generalizes to unseen data: </a:t>
            </a:r>
            <a:r>
              <a:rPr lang="en-US" sz="2600" dirty="0" err="1"/>
              <a:t>BraTS</a:t>
            </a:r>
            <a:r>
              <a:rPr lang="en-US" sz="2600" dirty="0"/>
              <a:t> 2023 SSIM = </a:t>
            </a:r>
            <a:r>
              <a:rPr lang="en-US" sz="2600" b="1" dirty="0"/>
              <a:t>0.8940</a:t>
            </a:r>
            <a:r>
              <a:rPr lang="en-US" sz="2600" dirty="0"/>
              <a:t> [95% CI: 0.887–0.900], n = 219 subjects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/>
              <a:t>Mixed precision + MONAI caching + </a:t>
            </a:r>
            <a:r>
              <a:rPr lang="en-US" sz="2600" dirty="0" err="1"/>
              <a:t>torch.compile</a:t>
            </a:r>
            <a:r>
              <a:rPr lang="en-US" sz="2600" dirty="0"/>
              <a:t> — efficient on standard GPU hardware</a:t>
            </a:r>
          </a:p>
          <a:p>
            <a:pPr algn="l"/>
            <a:endParaRPr lang="en-US" sz="2600" dirty="0"/>
          </a:p>
          <a:p>
            <a:pPr algn="l"/>
            <a:r>
              <a:rPr lang="en-US" sz="2600" b="1" dirty="0"/>
              <a:t>Future Work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/>
              <a:t>Extend to diverse pathologies — stroke, dementia, multiple sclerosis (currently glioma-only)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/>
              <a:t>Multi-site, cross-scanner validation across MRI vendors and field strengths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/>
              <a:t>Evaluate robustness under low SNR and motion artifact conditions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/>
              <a:t>Stratify performance by tumor size, location, and enhancement pattern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/>
              <a:t>Prospective clinical trials with blinded radiologist evaluation before deployment</a:t>
            </a:r>
          </a:p>
          <a:p>
            <a:pPr algn="l"/>
            <a:endParaRPr lang="en-US" sz="2000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920FFF1-3A7E-D327-23E9-CA42198E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5472" y="21813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IN" b="1" dirty="0">
                <a:latin typeface="Comic Sans MS" panose="030F0702030302020204" pitchFamily="66" charset="0"/>
              </a:rPr>
              <a:t>10. REFERENCES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F8D2229-4431-3149-CFA6-6D49563A1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5857" y="43750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12E992-ED0C-399F-E14C-B5731E35E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238986"/>
              </p:ext>
            </p:extLst>
          </p:nvPr>
        </p:nvGraphicFramePr>
        <p:xfrm>
          <a:off x="946271" y="1358727"/>
          <a:ext cx="10438542" cy="5281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750">
                  <a:extLst>
                    <a:ext uri="{9D8B030D-6E8A-4147-A177-3AD203B41FA5}">
                      <a16:colId xmlns:a16="http://schemas.microsoft.com/office/drawing/2014/main" val="687579548"/>
                    </a:ext>
                  </a:extLst>
                </a:gridCol>
                <a:gridCol w="1438231">
                  <a:extLst>
                    <a:ext uri="{9D8B030D-6E8A-4147-A177-3AD203B41FA5}">
                      <a16:colId xmlns:a16="http://schemas.microsoft.com/office/drawing/2014/main" val="2413163632"/>
                    </a:ext>
                  </a:extLst>
                </a:gridCol>
                <a:gridCol w="620154">
                  <a:extLst>
                    <a:ext uri="{9D8B030D-6E8A-4147-A177-3AD203B41FA5}">
                      <a16:colId xmlns:a16="http://schemas.microsoft.com/office/drawing/2014/main" val="2776903128"/>
                    </a:ext>
                  </a:extLst>
                </a:gridCol>
                <a:gridCol w="5827699">
                  <a:extLst>
                    <a:ext uri="{9D8B030D-6E8A-4147-A177-3AD203B41FA5}">
                      <a16:colId xmlns:a16="http://schemas.microsoft.com/office/drawing/2014/main" val="1899867833"/>
                    </a:ext>
                  </a:extLst>
                </a:gridCol>
                <a:gridCol w="2087708">
                  <a:extLst>
                    <a:ext uri="{9D8B030D-6E8A-4147-A177-3AD203B41FA5}">
                      <a16:colId xmlns:a16="http://schemas.microsoft.com/office/drawing/2014/main" val="1799582013"/>
                    </a:ext>
                  </a:extLst>
                </a:gridCol>
              </a:tblGrid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#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First Author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effectLst/>
                        </a:rPr>
                        <a:t>Year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Title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Venue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77284779"/>
                  </a:ext>
                </a:extLst>
              </a:tr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Isola, P.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2017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Image-to-image translation with conditional adversarial networks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IEEE CVPR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936792954"/>
                  </a:ext>
                </a:extLst>
              </a:tr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Zhu, J.Y.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2017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Unpaired image-to-image translation using cycle-consistent adversarial networks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IEEE ICCV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842326143"/>
                  </a:ext>
                </a:extLst>
              </a:tr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Mao, X.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2017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Least squares generative adversarial networks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IEEE ICCV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1762389"/>
                  </a:ext>
                </a:extLst>
              </a:tr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Wang, T.C.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2018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High-resolution image synthesis and semantic manipulation with conditional GANs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IEEE CVPR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716077897"/>
                  </a:ext>
                </a:extLst>
              </a:tr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Ronneberger, O.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2015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U-Net: Convolutional networks for biomedical image segmentation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MICCAI 2015, LNCS 9351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654578065"/>
                  </a:ext>
                </a:extLst>
              </a:tr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Johnson, J.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2016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Perceptual losses for real-time style transfer and super-resolution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ECCV 2016, LNCS 9906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93110037"/>
                  </a:ext>
                </a:extLst>
              </a:tr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Selvaraju, R.R.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2017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effectLst/>
                        </a:rPr>
                        <a:t>Grad-CAM: Visual explanations from deep networks via gradient-based localization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IEEE ICCV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55938112"/>
                  </a:ext>
                </a:extLst>
              </a:tr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Emami, H.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2020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effectLst/>
                        </a:rPr>
                        <a:t>SPA-GAN: Spatial attention GAN for image-to-image translation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IEEE Trans. Multimedia 23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571795426"/>
                  </a:ext>
                </a:extLst>
              </a:tr>
              <a:tr h="38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Gohel, P.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2021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Explainable AI: current status and future directions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arXiv:2107.07045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16088084"/>
                  </a:ext>
                </a:extLst>
              </a:tr>
              <a:tr h="48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10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Abhisheka, B.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2024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Recent trend in medical imaging modalities and their applications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Multimedia Tools Appl. 83(14)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096463039"/>
                  </a:ext>
                </a:extLst>
              </a:tr>
              <a:tr h="48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11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Meng, X.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2024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Multi-modal modality-masked diffusion network for brain MRI synthesis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IEEE Trans. Med. Imaging 43(7)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506230374"/>
                  </a:ext>
                </a:extLst>
              </a:tr>
              <a:tr h="48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12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Abbasi, S.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2023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Unsupervised deep learning registration model for multimodal brain images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effectLst/>
                        </a:rPr>
                        <a:t>J. Appl. Clin. Med. Phys. 24(11)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255472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FE8DA-4321-2E83-DB2C-79011A06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D257F3-EF3F-64EF-AD15-24944A9CA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790113"/>
            <a:ext cx="11407806" cy="5601809"/>
          </a:xfrm>
        </p:spPr>
        <p:txBody>
          <a:bodyPr/>
          <a:lstStyle/>
          <a:p>
            <a:pPr algn="l"/>
            <a:r>
              <a:rPr lang="en-IN" b="1" dirty="0">
                <a:latin typeface="Comic Sans MS" panose="030F0702030302020204" pitchFamily="66" charset="0"/>
              </a:rPr>
              <a:t>10. REFERENCES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D013D98-508D-3498-33D7-F2E29767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5857" y="43750"/>
            <a:ext cx="10440140" cy="729111"/>
          </a:xfrm>
        </p:spPr>
        <p:txBody>
          <a:bodyPr/>
          <a:lstStyle/>
          <a:p>
            <a:r>
              <a:rPr lang="en-IN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ICCDM-2026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3C5145-5A29-2875-5F44-9CD90EFAE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040605"/>
              </p:ext>
            </p:extLst>
          </p:nvPr>
        </p:nvGraphicFramePr>
        <p:xfrm>
          <a:off x="1005858" y="1356663"/>
          <a:ext cx="10440139" cy="511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26">
                  <a:extLst>
                    <a:ext uri="{9D8B030D-6E8A-4147-A177-3AD203B41FA5}">
                      <a16:colId xmlns:a16="http://schemas.microsoft.com/office/drawing/2014/main" val="505639156"/>
                    </a:ext>
                  </a:extLst>
                </a:gridCol>
                <a:gridCol w="1253697">
                  <a:extLst>
                    <a:ext uri="{9D8B030D-6E8A-4147-A177-3AD203B41FA5}">
                      <a16:colId xmlns:a16="http://schemas.microsoft.com/office/drawing/2014/main" val="407403048"/>
                    </a:ext>
                  </a:extLst>
                </a:gridCol>
                <a:gridCol w="659841">
                  <a:extLst>
                    <a:ext uri="{9D8B030D-6E8A-4147-A177-3AD203B41FA5}">
                      <a16:colId xmlns:a16="http://schemas.microsoft.com/office/drawing/2014/main" val="583956822"/>
                    </a:ext>
                  </a:extLst>
                </a:gridCol>
                <a:gridCol w="6000147">
                  <a:extLst>
                    <a:ext uri="{9D8B030D-6E8A-4147-A177-3AD203B41FA5}">
                      <a16:colId xmlns:a16="http://schemas.microsoft.com/office/drawing/2014/main" val="220221356"/>
                    </a:ext>
                  </a:extLst>
                </a:gridCol>
                <a:gridCol w="2088028">
                  <a:extLst>
                    <a:ext uri="{9D8B030D-6E8A-4147-A177-3AD203B41FA5}">
                      <a16:colId xmlns:a16="http://schemas.microsoft.com/office/drawing/2014/main" val="4109871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#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First Author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Year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 dirty="0">
                          <a:effectLst/>
                        </a:rPr>
                        <a:t>Title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 dirty="0">
                          <a:effectLst/>
                        </a:rPr>
                        <a:t>Venue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19429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13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 dirty="0">
                          <a:effectLst/>
                        </a:rPr>
                        <a:t>Zhu, L.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2022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 dirty="0" err="1">
                          <a:effectLst/>
                        </a:rPr>
                        <a:t>DualMMP</a:t>
                      </a:r>
                      <a:r>
                        <a:rPr lang="en-US" sz="1450" dirty="0">
                          <a:effectLst/>
                        </a:rPr>
                        <a:t>-GAN: Dual-scale multi-modality perceptual GAN for medical image segmentation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Comput. Biol. Med. 144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8381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14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Sun, L.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2019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Anatomical attention guided deep networks for ROI segmentation of brain MR images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IEEE Trans. Med. Imaging 39(6)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182414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15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Litjens, G.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2017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 dirty="0">
                          <a:effectLst/>
                        </a:rPr>
                        <a:t>A survey on deep learning in medical image analysis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Medical Image Analysis 42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2083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16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Wang, Z.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2004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Image quality assessment: From error visibility to structural similarity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IEEE Trans. Image Process. 13(4)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571432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17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Wang, Z.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2003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Multiscale structural similarity for image quality assessment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Asilomar Conf. Sig. Sys. Comput. 2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9810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18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Wang, Z.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2002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A universal image quality index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IEEE Signal Process. Lett. 9(3)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18950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19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Taha, A.A.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2015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Metrics for evaluating 3D medical image segmentation: analysis, selection, and tool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BMC Medical Imaging 15(1)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698437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Baid, U. et al.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2021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 dirty="0">
                          <a:effectLst/>
                        </a:rPr>
                        <a:t>The RSNA-ASNR-MICCAI </a:t>
                      </a:r>
                      <a:r>
                        <a:rPr lang="en-US" sz="1450" dirty="0" err="1">
                          <a:effectLst/>
                        </a:rPr>
                        <a:t>BraTS</a:t>
                      </a:r>
                      <a:r>
                        <a:rPr lang="en-US" sz="1450" dirty="0">
                          <a:effectLst/>
                        </a:rPr>
                        <a:t> 2021 benchmark on brain tumor segmentation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arXiv:2107.02314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844442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Menze, B.H.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2015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 dirty="0">
                          <a:effectLst/>
                        </a:rPr>
                        <a:t>The multimodal brain tumor image segmentation benchmark (BRATS)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IEEE Trans. Med. Imaging 34(10)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254870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Bakas, S.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2017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effectLst/>
                        </a:rPr>
                        <a:t>Advancing The Cancer Genome Atlas glioma MRI collections with expert labels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 dirty="0">
                          <a:effectLst/>
                        </a:rPr>
                        <a:t>Scientific Data 4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163202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022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</TotalTime>
  <Words>3568</Words>
  <Application>Microsoft Macintosh PowerPoint</Application>
  <PresentationFormat>Widescreen</PresentationFormat>
  <Paragraphs>610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Bookman Old Style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4. INTRODUCTION</vt:lpstr>
      <vt:lpstr>4.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Atchudhan Sreekanth</cp:lastModifiedBy>
  <cp:revision>27</cp:revision>
  <dcterms:created xsi:type="dcterms:W3CDTF">2021-02-05T14:09:33Z</dcterms:created>
  <dcterms:modified xsi:type="dcterms:W3CDTF">2026-04-23T04:49:12Z</dcterms:modified>
</cp:coreProperties>
</file>